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4A2AF684-CD40-4914-ADC5-D6E952FDDC81}"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9" name="Google Shape;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35" name="Google Shape;3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43" name="Google Shape;4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50" name="Google Shape;5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57" name="Google Shape;5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64" name="Google Shape;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73" name="Google Shape;7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82" name="Google Shape;8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91" name="Google Shape;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99" name="Google Shape;9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07" name="Google Shape;1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15" name="Google Shape;1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23" name="Google Shape;12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30" name="Google Shape;13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37" name="Google Shape;13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44" name="Google Shape;14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52" name="Google Shape;152;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60" name="Google Shape;160;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68" name="Google Shape;168;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76" name="Google Shape;17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83" name="Google Shape;18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03" name="Google Shape;20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10" name="Google Shape;210;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19" name="Google Shape;219;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28" name="Google Shape;228;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37" name="Google Shape;237;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45" name="Google Shape;245;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53" name="Google Shape;253;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60" name="Google Shape;260;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67" name="Google Shape;26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74" name="Google Shape;27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81" name="Google Shape;28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88" name="Google Shape;28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311760" y="744480"/>
            <a:ext cx="8520120" cy="2052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 name="Google Shape;12;p2"/>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blank">
  <p:cSld name="BLANK">
    <p:spTree>
      <p:nvGrpSpPr>
        <p:cNvPr id="13" name="Shape 13"/>
        <p:cNvGrpSpPr/>
        <p:nvPr/>
      </p:nvGrpSpPr>
      <p:grpSpPr>
        <a:xfrm>
          <a:off x="0" y="0"/>
          <a:ext cx="0" cy="0"/>
          <a:chOff x="0" y="0"/>
          <a:chExt cx="0" cy="0"/>
        </a:xfrm>
      </p:grpSpPr>
      <p:sp>
        <p:nvSpPr>
          <p:cNvPr id="14" name="Google Shape;14;p3"/>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311760" y="744480"/>
            <a:ext cx="8520120" cy="2052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4"/>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woObj">
  <p:cSld name="TWO_OBJECTS">
    <p:spTree>
      <p:nvGrpSpPr>
        <p:cNvPr id="19" name="Shape 19"/>
        <p:cNvGrpSpPr/>
        <p:nvPr/>
      </p:nvGrpSpPr>
      <p:grpSpPr>
        <a:xfrm>
          <a:off x="0" y="0"/>
          <a:ext cx="0" cy="0"/>
          <a:chOff x="0" y="0"/>
          <a:chExt cx="0" cy="0"/>
        </a:xfrm>
      </p:grpSpPr>
      <p:sp>
        <p:nvSpPr>
          <p:cNvPr id="20" name="Google Shape;20;p5"/>
          <p:cNvSpPr txBox="1"/>
          <p:nvPr>
            <p:ph type="title"/>
          </p:nvPr>
        </p:nvSpPr>
        <p:spPr>
          <a:xfrm>
            <a:off x="311760" y="744480"/>
            <a:ext cx="8520120" cy="2052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 name="Google Shape;22;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3" name="Google Shape;23;p5"/>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60" y="744480"/>
            <a:ext cx="8520120" cy="2052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60" y="744480"/>
            <a:ext cx="8520120" cy="205236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solidFill>
                <a:srgbClr val="000000"/>
              </a:solidFill>
              <a:latin typeface="Times New Roman"/>
              <a:ea typeface="Times New Roman"/>
              <a:cs typeface="Times New Roman"/>
              <a:sym typeface="Times New Roman"/>
            </a:endParaRPr>
          </a:p>
        </p:txBody>
      </p:sp>
      <p:sp>
        <p:nvSpPr>
          <p:cNvPr id="8" name="Google Shape;8;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1.jpg"/><Relationship Id="rId5"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1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7"/>
          <p:cNvSpPr txBox="1"/>
          <p:nvPr>
            <p:ph idx="1" type="subTitle"/>
          </p:nvPr>
        </p:nvSpPr>
        <p:spPr>
          <a:xfrm>
            <a:off x="358560" y="1380960"/>
            <a:ext cx="8520120" cy="3762720"/>
          </a:xfrm>
          <a:prstGeom prst="rect">
            <a:avLst/>
          </a:prstGeom>
          <a:noFill/>
          <a:ln>
            <a:noFill/>
          </a:ln>
        </p:spPr>
        <p:txBody>
          <a:bodyPr anchorCtr="0" anchor="t" bIns="91425" lIns="91425" spcFirstLastPara="1" rIns="91425" wrap="square" tIns="91425">
            <a:normAutofit lnSpcReduction="20000"/>
          </a:bodyPr>
          <a:lstStyle/>
          <a:p>
            <a:pPr indent="0" lvl="0" marL="0" marR="0" rtl="0" algn="ctr">
              <a:lnSpc>
                <a:spcPct val="100000"/>
              </a:lnSpc>
              <a:spcBef>
                <a:spcPts val="0"/>
              </a:spcBef>
              <a:spcAft>
                <a:spcPts val="0"/>
              </a:spcAft>
              <a:buSzPts val="1647"/>
              <a:buNone/>
            </a:pPr>
            <a:r>
              <a:rPr b="1" i="0" lang="en-GB" sz="2800" u="none" cap="none" strike="noStrike">
                <a:solidFill>
                  <a:schemeClr val="dk1"/>
                </a:solidFill>
                <a:latin typeface="Times New Roman"/>
                <a:ea typeface="Times New Roman"/>
                <a:cs typeface="Times New Roman"/>
                <a:sym typeface="Times New Roman"/>
              </a:rPr>
              <a:t>Smart Shopping Cart</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1050"/>
              </a:spcBef>
              <a:spcAft>
                <a:spcPts val="0"/>
              </a:spcAft>
              <a:buSzPts val="1647"/>
              <a:buNone/>
            </a:pPr>
            <a:r>
              <a:rPr b="1" i="0" lang="en-GB" sz="1800" u="none" cap="none" strike="noStrike">
                <a:solidFill>
                  <a:schemeClr val="dk1"/>
                </a:solidFill>
                <a:latin typeface="Times New Roman"/>
                <a:ea typeface="Times New Roman"/>
                <a:cs typeface="Times New Roman"/>
                <a:sym typeface="Times New Roman"/>
              </a:rPr>
              <a:t> ABIN SANTHOSH [Reg. No. IES22CS006]</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55"/>
              </a:spcBef>
              <a:spcAft>
                <a:spcPts val="0"/>
              </a:spcAft>
              <a:buSzPts val="1647"/>
              <a:buNone/>
            </a:pPr>
            <a:r>
              <a:rPr b="1" i="0" lang="en-GB" sz="1800" u="none" cap="none" strike="noStrike">
                <a:solidFill>
                  <a:schemeClr val="dk1"/>
                </a:solidFill>
                <a:latin typeface="Times New Roman"/>
                <a:ea typeface="Times New Roman"/>
                <a:cs typeface="Times New Roman"/>
                <a:sym typeface="Times New Roman"/>
              </a:rPr>
              <a:t> ADHITH SUNIL     [Reg. No. IES22CS007]</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55"/>
              </a:spcBef>
              <a:spcAft>
                <a:spcPts val="0"/>
              </a:spcAft>
              <a:buSzPts val="1647"/>
              <a:buNone/>
            </a:pPr>
            <a:r>
              <a:rPr b="1" i="0" lang="en-GB" sz="1800" u="none" cap="none" strike="noStrike">
                <a:solidFill>
                  <a:schemeClr val="dk1"/>
                </a:solidFill>
                <a:latin typeface="Times New Roman"/>
                <a:ea typeface="Times New Roman"/>
                <a:cs typeface="Times New Roman"/>
                <a:sym typeface="Times New Roman"/>
              </a:rPr>
              <a:t> ADHWAITH T T    </a:t>
            </a:r>
            <a:r>
              <a:rPr b="1" lang="en-GB">
                <a:solidFill>
                  <a:schemeClr val="dk1"/>
                </a:solidFill>
                <a:latin typeface="Times New Roman"/>
                <a:ea typeface="Times New Roman"/>
                <a:cs typeface="Times New Roman"/>
                <a:sym typeface="Times New Roman"/>
              </a:rPr>
              <a:t> </a:t>
            </a:r>
            <a:r>
              <a:rPr b="1" i="0" lang="en-GB" sz="1800" u="none" cap="none" strike="noStrike">
                <a:solidFill>
                  <a:schemeClr val="dk1"/>
                </a:solidFill>
                <a:latin typeface="Times New Roman"/>
                <a:ea typeface="Times New Roman"/>
                <a:cs typeface="Times New Roman"/>
                <a:sym typeface="Times New Roman"/>
              </a:rPr>
              <a:t>[Reg. No. IES22CS008]</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55"/>
              </a:spcBef>
              <a:spcAft>
                <a:spcPts val="0"/>
              </a:spcAft>
              <a:buSzPts val="1647"/>
              <a:buNone/>
            </a:pPr>
            <a:r>
              <a:rPr b="1" i="0" lang="en-GB" sz="1800" u="none" cap="none" strike="noStrike">
                <a:solidFill>
                  <a:schemeClr val="dk1"/>
                </a:solidFill>
                <a:latin typeface="Times New Roman"/>
                <a:ea typeface="Times New Roman"/>
                <a:cs typeface="Times New Roman"/>
                <a:sym typeface="Times New Roman"/>
              </a:rPr>
              <a:t> ANITTA RAPHI E  [Reg. No. IES22CS025]</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647"/>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647"/>
              <a:buNone/>
            </a:pPr>
            <a:r>
              <a:rPr b="0" i="0" lang="en-GB" sz="1800" u="none" cap="none" strike="noStrike">
                <a:solidFill>
                  <a:schemeClr val="dk1"/>
                </a:solidFill>
                <a:latin typeface="Times New Roman"/>
                <a:ea typeface="Times New Roman"/>
                <a:cs typeface="Times New Roman"/>
                <a:sym typeface="Times New Roman"/>
              </a:rPr>
              <a:t>Department of CSE,</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647"/>
              <a:buNone/>
            </a:pPr>
            <a:r>
              <a:rPr b="0" i="0" lang="en-GB" sz="1800" u="none" cap="none" strike="noStrike">
                <a:solidFill>
                  <a:schemeClr val="dk1"/>
                </a:solidFill>
                <a:latin typeface="Times New Roman"/>
                <a:ea typeface="Times New Roman"/>
                <a:cs typeface="Times New Roman"/>
                <a:sym typeface="Times New Roman"/>
              </a:rPr>
              <a:t>IES COLLEGE OF ENGINEERING, THRISSUR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647"/>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647"/>
              <a:buNone/>
            </a:pPr>
            <a:r>
              <a:rPr b="0" i="0" lang="en-GB" sz="1800" u="none" cap="none" strike="noStrike">
                <a:solidFill>
                  <a:schemeClr val="dk1"/>
                </a:solidFill>
                <a:latin typeface="Times New Roman"/>
                <a:ea typeface="Times New Roman"/>
                <a:cs typeface="Times New Roman"/>
                <a:sym typeface="Times New Roman"/>
              </a:rPr>
              <a:t>Under the Guidance of</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625"/>
              </a:spcBef>
              <a:spcAft>
                <a:spcPts val="0"/>
              </a:spcAft>
              <a:buSzPts val="1647"/>
              <a:buNone/>
            </a:pPr>
            <a:r>
              <a:rPr b="1" i="0" lang="en-GB" sz="1800" u="none" cap="none" strike="noStrike">
                <a:solidFill>
                  <a:schemeClr val="dk1"/>
                </a:solidFill>
                <a:latin typeface="Times New Roman"/>
                <a:ea typeface="Times New Roman"/>
                <a:cs typeface="Times New Roman"/>
                <a:sym typeface="Times New Roman"/>
              </a:rPr>
              <a:t>Ms. MEETHU M B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425"/>
              </a:spcBef>
              <a:spcAft>
                <a:spcPts val="0"/>
              </a:spcAft>
              <a:buSzPts val="1647"/>
              <a:buNone/>
            </a:pPr>
            <a:r>
              <a:rPr b="0" i="0" lang="en-GB" sz="1800" u="none" cap="none" strike="noStrike">
                <a:solidFill>
                  <a:schemeClr val="dk1"/>
                </a:solidFill>
                <a:latin typeface="Times New Roman"/>
                <a:ea typeface="Times New Roman"/>
                <a:cs typeface="Times New Roman"/>
                <a:sym typeface="Times New Roman"/>
              </a:rPr>
              <a:t>Assistant Professor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647"/>
              <a:buNone/>
            </a:pPr>
            <a:r>
              <a:rPr b="0" i="0" lang="en-GB" sz="1800" u="none" cap="none" strike="noStrike">
                <a:solidFill>
                  <a:schemeClr val="dk1"/>
                </a:solidFill>
                <a:latin typeface="Times New Roman"/>
                <a:ea typeface="Times New Roman"/>
                <a:cs typeface="Times New Roman"/>
                <a:sym typeface="Times New Roman"/>
              </a:rPr>
              <a:t> Department of CSE</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647"/>
              <a:buNone/>
            </a:pPr>
            <a:r>
              <a:rPr b="0" i="0" lang="en-GB" sz="1800" u="none" cap="none" strike="noStrike">
                <a:solidFill>
                  <a:schemeClr val="dk1"/>
                </a:solidFill>
                <a:latin typeface="Times New Roman"/>
                <a:ea typeface="Times New Roman"/>
                <a:cs typeface="Times New Roman"/>
                <a:sym typeface="Times New Roman"/>
              </a:rPr>
              <a:t>IES COLLEGE OF ENGINEERING, THRISSUR</a:t>
            </a:r>
            <a:endParaRPr b="0" i="0" sz="1800" u="none" cap="none" strike="noStrike">
              <a:solidFill>
                <a:srgbClr val="000000"/>
              </a:solidFill>
              <a:latin typeface="Arial"/>
              <a:ea typeface="Arial"/>
              <a:cs typeface="Arial"/>
              <a:sym typeface="Arial"/>
            </a:endParaRPr>
          </a:p>
        </p:txBody>
      </p:sp>
      <p:pic>
        <p:nvPicPr>
          <p:cNvPr id="32" name="Google Shape;32;p7"/>
          <p:cNvPicPr preferRelativeResize="0"/>
          <p:nvPr/>
        </p:nvPicPr>
        <p:blipFill rotWithShape="1">
          <a:blip r:embed="rId3">
            <a:alphaModFix/>
          </a:blip>
          <a:srcRect b="0" l="0" r="0" t="0"/>
          <a:stretch/>
        </p:blipFill>
        <p:spPr>
          <a:xfrm>
            <a:off x="0" y="0"/>
            <a:ext cx="9143640" cy="138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8"/>
          <p:cNvSpPr txBox="1"/>
          <p:nvPr>
            <p:ph idx="1" type="subTitle"/>
          </p:nvPr>
        </p:nvSpPr>
        <p:spPr>
          <a:xfrm>
            <a:off x="358560" y="1132200"/>
            <a:ext cx="8520120" cy="373608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SzPts val="1400"/>
              <a:buNone/>
            </a:pPr>
            <a:r>
              <a:rPr b="1" i="0" lang="en-GB" sz="2180" u="none" cap="none" strike="noStrike">
                <a:solidFill>
                  <a:schemeClr val="dk1"/>
                </a:solidFill>
                <a:latin typeface="Times New Roman"/>
                <a:ea typeface="Times New Roman"/>
                <a:cs typeface="Times New Roman"/>
                <a:sym typeface="Times New Roman"/>
              </a:rPr>
              <a:t>TARGETS OF THE MINI PROJECT WORK</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p:txBody>
      </p:sp>
      <p:pic>
        <p:nvPicPr>
          <p:cNvPr id="38" name="Google Shape;38;p8"/>
          <p:cNvPicPr preferRelativeResize="0"/>
          <p:nvPr/>
        </p:nvPicPr>
        <p:blipFill rotWithShape="1">
          <a:blip r:embed="rId3">
            <a:alphaModFix/>
          </a:blip>
          <a:srcRect b="0" l="0" r="0" t="0"/>
          <a:stretch/>
        </p:blipFill>
        <p:spPr>
          <a:xfrm>
            <a:off x="0" y="0"/>
            <a:ext cx="9143640" cy="1061280"/>
          </a:xfrm>
          <a:prstGeom prst="rect">
            <a:avLst/>
          </a:prstGeom>
          <a:noFill/>
          <a:ln>
            <a:noFill/>
          </a:ln>
        </p:spPr>
      </p:pic>
      <p:graphicFrame>
        <p:nvGraphicFramePr>
          <p:cNvPr id="39" name="Google Shape;39;p8"/>
          <p:cNvGraphicFramePr/>
          <p:nvPr/>
        </p:nvGraphicFramePr>
        <p:xfrm>
          <a:off x="1069920" y="1522440"/>
          <a:ext cx="3000000" cy="3000000"/>
        </p:xfrm>
        <a:graphic>
          <a:graphicData uri="http://schemas.openxmlformats.org/drawingml/2006/table">
            <a:tbl>
              <a:tblPr>
                <a:noFill/>
                <a:tableStyleId>{4A2AF684-CD40-4914-ADC5-D6E952FDDC81}</a:tableStyleId>
              </a:tblPr>
              <a:tblGrid>
                <a:gridCol w="1809725"/>
                <a:gridCol w="1809725"/>
                <a:gridCol w="1809725"/>
                <a:gridCol w="1809725"/>
              </a:tblGrid>
              <a:tr h="38087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solidFill>
                            <a:srgbClr val="000000"/>
                          </a:solidFill>
                          <a:latin typeface="Arial"/>
                          <a:ea typeface="Arial"/>
                          <a:cs typeface="Arial"/>
                          <a:sym typeface="Arial"/>
                        </a:rPr>
                        <a:t>ACTIVITIES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0" sz="18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solidFill>
                            <a:srgbClr val="000000"/>
                          </a:solidFill>
                          <a:latin typeface="Arial"/>
                          <a:ea typeface="Arial"/>
                          <a:cs typeface="Arial"/>
                          <a:sym typeface="Arial"/>
                        </a:rPr>
                        <a:t>ACTIVITIES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0" sz="18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0875">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Domain &amp; problem identified</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Development of product</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en-GB" sz="1400" u="none" cap="none" strike="noStrike">
                          <a:solidFill>
                            <a:schemeClr val="dk1"/>
                          </a:solidFil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0875">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Literature Review</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chemeClr val="dk1"/>
                          </a:solidFill>
                          <a:latin typeface="Arial"/>
                          <a:ea typeface="Arial"/>
                          <a:cs typeface="Arial"/>
                          <a:sym typeface="Aria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Testing</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en-GB" sz="1400" u="none" cap="none" strike="noStrike">
                          <a:solidFill>
                            <a:schemeClr val="dk1"/>
                          </a:solidFil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0875">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Objectives formulated</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chemeClr val="dk1"/>
                          </a:solidFill>
                          <a:latin typeface="Arial"/>
                          <a:ea typeface="Arial"/>
                          <a:cs typeface="Arial"/>
                          <a:sym typeface="Aria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Obtained Result</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en-GB" sz="1400" u="none" cap="none" strike="noStrike">
                          <a:solidFill>
                            <a:schemeClr val="dk1"/>
                          </a:solidFil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0875">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Methodology / Design</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chemeClr val="dk1"/>
                          </a:solidFill>
                          <a:latin typeface="Arial"/>
                          <a:ea typeface="Arial"/>
                          <a:cs typeface="Arial"/>
                          <a:sym typeface="Aria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Documentation</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en-GB" sz="1400" u="none" cap="none" strike="noStrike">
                          <a:solidFill>
                            <a:schemeClr val="dk1"/>
                          </a:solidFil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0875">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Created work plan and task allocation</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chemeClr val="dk1"/>
                          </a:solidFill>
                          <a:latin typeface="Arial"/>
                          <a:ea typeface="Arial"/>
                          <a:cs typeface="Arial"/>
                          <a:sym typeface="Aria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Report submission</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en-GB" sz="1400" u="none" cap="none" strike="noStrike">
                          <a:solidFill>
                            <a:schemeClr val="dk1"/>
                          </a:solidFill>
                        </a:rPr>
                        <a:t>Yes</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0" name="Google Shape;40;p8"/>
          <p:cNvSpPr/>
          <p:nvPr/>
        </p:nvSpPr>
        <p:spPr>
          <a:xfrm>
            <a:off x="786600" y="4785120"/>
            <a:ext cx="748368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Date:</a:t>
            </a:r>
            <a:r>
              <a:rPr lang="en-GB">
                <a:solidFill>
                  <a:schemeClr val="dk1"/>
                </a:solidFill>
              </a:rPr>
              <a:t>02-04</a:t>
            </a:r>
            <a:r>
              <a:rPr b="0" i="0" lang="en-GB" sz="1400" u="none" cap="none" strike="noStrike">
                <a:solidFill>
                  <a:schemeClr val="dk1"/>
                </a:solidFill>
                <a:latin typeface="Arial"/>
                <a:ea typeface="Arial"/>
                <a:cs typeface="Arial"/>
                <a:sym typeface="Arial"/>
              </a:rPr>
              <a:t>-2025                                               IESCE                                            Slide. No:1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9"/>
          <p:cNvSpPr txBox="1"/>
          <p:nvPr>
            <p:ph idx="1" type="subTitle"/>
          </p:nvPr>
        </p:nvSpPr>
        <p:spPr>
          <a:xfrm>
            <a:off x="358560" y="1132200"/>
            <a:ext cx="8520120" cy="3736080"/>
          </a:xfrm>
          <a:prstGeom prst="rect">
            <a:avLst/>
          </a:prstGeom>
          <a:noFill/>
          <a:ln>
            <a:noFill/>
          </a:ln>
        </p:spPr>
        <p:txBody>
          <a:bodyPr anchorCtr="0" anchor="t" bIns="91425" lIns="91425" spcFirstLastPara="1" rIns="91425" wrap="square" tIns="91425">
            <a:normAutofit lnSpcReduction="10000"/>
          </a:bodyPr>
          <a:lstStyle/>
          <a:p>
            <a:pPr indent="0" lvl="0" marL="0" marR="0" rtl="0" algn="ctr">
              <a:lnSpc>
                <a:spcPct val="80000"/>
              </a:lnSpc>
              <a:spcBef>
                <a:spcPts val="0"/>
              </a:spcBef>
              <a:spcAft>
                <a:spcPts val="0"/>
              </a:spcAft>
              <a:buSzPts val="1400"/>
              <a:buNone/>
            </a:pPr>
            <a:r>
              <a:rPr b="1" i="0" lang="en-GB" sz="2180" u="none" cap="none" strike="noStrike">
                <a:solidFill>
                  <a:schemeClr val="dk1"/>
                </a:solidFill>
                <a:latin typeface="Times New Roman"/>
                <a:ea typeface="Times New Roman"/>
                <a:cs typeface="Times New Roman"/>
                <a:sym typeface="Times New Roman"/>
              </a:rPr>
              <a:t>INTRODUCTION</a:t>
            </a:r>
            <a:endParaRPr b="0" i="0" sz="2180" u="none" cap="none" strike="noStrike">
              <a:solidFill>
                <a:srgbClr val="000000"/>
              </a:solidFill>
              <a:latin typeface="Arial"/>
              <a:ea typeface="Arial"/>
              <a:cs typeface="Arial"/>
              <a:sym typeface="Arial"/>
            </a:endParaRPr>
          </a:p>
          <a:p>
            <a:pPr indent="0" lvl="0" marL="914400" marR="0" rtl="0" algn="l">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355600" lvl="0" marL="457200" marR="0" rtl="0" algn="just">
              <a:lnSpc>
                <a:spcPct val="110000"/>
              </a:lnSpc>
              <a:spcBef>
                <a:spcPts val="1190"/>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Smart Shopping Cart aims to enhance the shopping experience by reducing time spent at billing  counters. </a:t>
            </a:r>
            <a:endParaRPr b="0" i="0" sz="2000" u="none" cap="none" strike="noStrike">
              <a:solidFill>
                <a:srgbClr val="000000"/>
              </a:solidFill>
              <a:latin typeface="Arial"/>
              <a:ea typeface="Arial"/>
              <a:cs typeface="Arial"/>
              <a:sym typeface="Arial"/>
            </a:endParaRPr>
          </a:p>
          <a:p>
            <a:pPr indent="-355600" lvl="0" marL="457200" marR="0" rtl="0" algn="just">
              <a:lnSpc>
                <a:spcPct val="110000"/>
              </a:lnSpc>
              <a:spcBef>
                <a:spcPts val="2185"/>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Traditional billing relies on barcode scanning, requiring manual effort and increasing checkout time.</a:t>
            </a:r>
            <a:endParaRPr b="0" i="0" sz="2000" u="none" cap="none" strike="noStrike">
              <a:solidFill>
                <a:srgbClr val="000000"/>
              </a:solidFill>
              <a:latin typeface="Arial"/>
              <a:ea typeface="Arial"/>
              <a:cs typeface="Arial"/>
              <a:sym typeface="Arial"/>
            </a:endParaRPr>
          </a:p>
          <a:p>
            <a:pPr indent="-355600" lvl="0" marL="457200" marR="0" rtl="0" algn="l">
              <a:lnSpc>
                <a:spcPct val="110000"/>
              </a:lnSpc>
              <a:spcBef>
                <a:spcPts val="2185"/>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The proposed system uses RFID tags instead of barcodes to streamline the shopping process.</a:t>
            </a:r>
            <a:r>
              <a:rPr b="0" i="0" lang="en-GB" sz="1000" u="none" cap="none" strike="noStrike">
                <a:solidFill>
                  <a:schemeClr val="dk1"/>
                </a:solidFill>
                <a:latin typeface="Times New Roman"/>
                <a:ea typeface="Times New Roman"/>
                <a:cs typeface="Times New Roman"/>
                <a:sym typeface="Times New Roman"/>
              </a:rPr>
              <a:t> </a:t>
            </a:r>
            <a:endParaRPr b="0" i="0" sz="1000" u="none" cap="none" strike="noStrike">
              <a:solidFill>
                <a:srgbClr val="000000"/>
              </a:solidFill>
              <a:latin typeface="Arial"/>
              <a:ea typeface="Arial"/>
              <a:cs typeface="Arial"/>
              <a:sym typeface="Arial"/>
            </a:endParaRPr>
          </a:p>
          <a:p>
            <a:pPr indent="0" lvl="0" marL="914400" marR="0" rtl="0" algn="just">
              <a:lnSpc>
                <a:spcPct val="100000"/>
              </a:lnSpc>
              <a:spcBef>
                <a:spcPts val="1995"/>
              </a:spcBef>
              <a:spcAft>
                <a:spcPts val="0"/>
              </a:spcAft>
              <a:buSzPts val="1400"/>
              <a:buNone/>
            </a:pPr>
            <a:r>
              <a:t/>
            </a:r>
            <a:endParaRPr b="0" i="0" sz="2000" u="none" cap="none" strike="noStrike">
              <a:solidFill>
                <a:srgbClr val="000000"/>
              </a:solidFill>
              <a:latin typeface="Arial"/>
              <a:ea typeface="Arial"/>
              <a:cs typeface="Arial"/>
              <a:sym typeface="Arial"/>
            </a:endParaRPr>
          </a:p>
        </p:txBody>
      </p:sp>
      <p:pic>
        <p:nvPicPr>
          <p:cNvPr id="46" name="Google Shape;46;p9"/>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47" name="Google Shape;47;p9"/>
          <p:cNvSpPr/>
          <p:nvPr/>
        </p:nvSpPr>
        <p:spPr>
          <a:xfrm>
            <a:off x="648720" y="4747680"/>
            <a:ext cx="763128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0"/>
          <p:cNvSpPr txBox="1"/>
          <p:nvPr>
            <p:ph idx="1" type="subTitle"/>
          </p:nvPr>
        </p:nvSpPr>
        <p:spPr>
          <a:xfrm>
            <a:off x="358560" y="1132200"/>
            <a:ext cx="8520120" cy="373608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SzPts val="1400"/>
              <a:buNone/>
            </a:pPr>
            <a:r>
              <a:rPr b="1" i="0" lang="en-GB" sz="2180" u="none" cap="none" strike="noStrike">
                <a:solidFill>
                  <a:schemeClr val="dk1"/>
                </a:solidFill>
                <a:latin typeface="Times New Roman"/>
                <a:ea typeface="Times New Roman"/>
                <a:cs typeface="Times New Roman"/>
                <a:sym typeface="Times New Roman"/>
              </a:rPr>
              <a:t>INTRODUCTION</a:t>
            </a:r>
            <a:endParaRPr b="0" i="0" sz="2180" u="none" cap="none" strike="noStrike">
              <a:solidFill>
                <a:srgbClr val="000000"/>
              </a:solidFill>
              <a:latin typeface="Arial"/>
              <a:ea typeface="Arial"/>
              <a:cs typeface="Arial"/>
              <a:sym typeface="Arial"/>
            </a:endParaRPr>
          </a:p>
          <a:p>
            <a:pPr indent="0" lvl="0" marL="914400" marR="0" rtl="0" algn="l">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355600" lvl="0" marL="457200" marR="0" rtl="0" algn="just">
              <a:lnSpc>
                <a:spcPct val="120000"/>
              </a:lnSpc>
              <a:spcBef>
                <a:spcPts val="0"/>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Uses an RFID reader with an LCD display mounted on the shopping cart to display the price of each scanned item.</a:t>
            </a:r>
            <a:endParaRPr b="0" i="0" sz="2000" u="none" cap="none" strike="noStrike">
              <a:solidFill>
                <a:srgbClr val="000000"/>
              </a:solidFill>
              <a:latin typeface="Arial"/>
              <a:ea typeface="Arial"/>
              <a:cs typeface="Arial"/>
              <a:sym typeface="Arial"/>
            </a:endParaRPr>
          </a:p>
          <a:p>
            <a:pPr indent="-355600" lvl="0" marL="457200" marR="0" rtl="0" algn="l">
              <a:lnSpc>
                <a:spcPct val="120000"/>
              </a:lnSpc>
              <a:spcBef>
                <a:spcPts val="1190"/>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Improves overall customer satisfaction and operational efficiency in shopping malls.</a:t>
            </a:r>
            <a:endParaRPr b="0" i="0" sz="2000" u="none" cap="none" strike="noStrike">
              <a:solidFill>
                <a:srgbClr val="000000"/>
              </a:solidFill>
              <a:latin typeface="Arial"/>
              <a:ea typeface="Arial"/>
              <a:cs typeface="Arial"/>
              <a:sym typeface="Arial"/>
            </a:endParaRPr>
          </a:p>
        </p:txBody>
      </p:sp>
      <p:pic>
        <p:nvPicPr>
          <p:cNvPr id="53" name="Google Shape;53;p10"/>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54" name="Google Shape;54;p10"/>
          <p:cNvSpPr/>
          <p:nvPr/>
        </p:nvSpPr>
        <p:spPr>
          <a:xfrm>
            <a:off x="540000" y="4680000"/>
            <a:ext cx="780912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a:t>
            </a:r>
            <a:r>
              <a:rPr b="0" i="0" lang="en-GB" sz="1400" u="none" cap="none" strike="noStrike">
                <a:solidFill>
                  <a:schemeClr val="dk1"/>
                </a:solidFill>
                <a:latin typeface="Arial"/>
                <a:ea typeface="Arial"/>
                <a:cs typeface="Arial"/>
                <a:sym typeface="Arial"/>
              </a:rPr>
              <a:t>                                                IESCE                                            Slide. No: 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1"/>
          <p:cNvSpPr txBox="1"/>
          <p:nvPr>
            <p:ph idx="1" type="subTitle"/>
          </p:nvPr>
        </p:nvSpPr>
        <p:spPr>
          <a:xfrm>
            <a:off x="358560" y="1132200"/>
            <a:ext cx="8520120" cy="373608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SzPts val="1400"/>
              <a:buNone/>
            </a:pPr>
            <a:r>
              <a:rPr b="1" i="0" lang="en-GB" sz="2180" u="none" cap="none" strike="noStrike">
                <a:solidFill>
                  <a:schemeClr val="dk1"/>
                </a:solidFill>
                <a:latin typeface="Times New Roman"/>
                <a:ea typeface="Times New Roman"/>
                <a:cs typeface="Times New Roman"/>
                <a:sym typeface="Times New Roman"/>
              </a:rPr>
              <a:t>OBJECTIVES</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355600" lvl="0" marL="457200" marR="0" rtl="0" algn="l">
              <a:lnSpc>
                <a:spcPct val="150000"/>
              </a:lnSpc>
              <a:spcBef>
                <a:spcPts val="1190"/>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Develop an RFID-based smart shopping cart to automate item detection and displaying item details and total cost in real time.</a:t>
            </a:r>
            <a:r>
              <a:rPr b="0" i="0" lang="en-GB" sz="1000" u="none" cap="none" strike="noStrike">
                <a:solidFill>
                  <a:schemeClr val="dk1"/>
                </a:solidFill>
                <a:latin typeface="Times New Roman"/>
                <a:ea typeface="Times New Roman"/>
                <a:cs typeface="Times New Roman"/>
                <a:sym typeface="Times New Roman"/>
              </a:rPr>
              <a:t> </a:t>
            </a:r>
            <a:endParaRPr b="0" i="0" sz="1000" u="none" cap="none" strike="noStrike">
              <a:solidFill>
                <a:srgbClr val="000000"/>
              </a:solidFill>
              <a:latin typeface="Arial"/>
              <a:ea typeface="Arial"/>
              <a:cs typeface="Arial"/>
              <a:sym typeface="Arial"/>
            </a:endParaRPr>
          </a:p>
        </p:txBody>
      </p:sp>
      <p:pic>
        <p:nvPicPr>
          <p:cNvPr id="60" name="Google Shape;60;p11"/>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61" name="Google Shape;61;p11"/>
          <p:cNvSpPr/>
          <p:nvPr/>
        </p:nvSpPr>
        <p:spPr>
          <a:xfrm>
            <a:off x="626040" y="4678560"/>
            <a:ext cx="864684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2"/>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67" name="Google Shape;67;p12"/>
          <p:cNvSpPr/>
          <p:nvPr/>
        </p:nvSpPr>
        <p:spPr>
          <a:xfrm>
            <a:off x="365040" y="4678560"/>
            <a:ext cx="864684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5</a:t>
            </a:r>
            <a:endParaRPr b="0" i="0" sz="1400" u="none" cap="none" strike="noStrike">
              <a:solidFill>
                <a:srgbClr val="000000"/>
              </a:solidFill>
              <a:latin typeface="Arial"/>
              <a:ea typeface="Arial"/>
              <a:cs typeface="Arial"/>
              <a:sym typeface="Arial"/>
            </a:endParaRPr>
          </a:p>
        </p:txBody>
      </p:sp>
      <p:sp>
        <p:nvSpPr>
          <p:cNvPr id="68" name="Google Shape;68;p12"/>
          <p:cNvSpPr/>
          <p:nvPr/>
        </p:nvSpPr>
        <p:spPr>
          <a:xfrm>
            <a:off x="943200" y="195120"/>
            <a:ext cx="7715160" cy="461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2"/>
          <p:cNvSpPr/>
          <p:nvPr/>
        </p:nvSpPr>
        <p:spPr>
          <a:xfrm>
            <a:off x="0" y="1776600"/>
            <a:ext cx="9092520" cy="2837880"/>
          </a:xfrm>
          <a:prstGeom prst="rect">
            <a:avLst/>
          </a:prstGeom>
          <a:noFill/>
          <a:ln>
            <a:noFill/>
          </a:ln>
        </p:spPr>
        <p:txBody>
          <a:bodyPr anchorCtr="0" anchor="t" bIns="91425" lIns="91425" spcFirstLastPara="1" rIns="91425" wrap="square" tIns="91425">
            <a:noAutofit/>
          </a:bodyPr>
          <a:lstStyle/>
          <a:p>
            <a:pPr indent="-355600" lvl="0" marL="457200" marR="0" rtl="0" algn="just">
              <a:lnSpc>
                <a:spcPct val="130000"/>
              </a:lnSpc>
              <a:spcBef>
                <a:spcPts val="0"/>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The existing system relies on barcode scanning, requiring each item to be scanned manually at the checkout counter.</a:t>
            </a:r>
            <a:endParaRPr b="0" i="0" sz="2000" u="none" cap="none" strike="noStrike">
              <a:solidFill>
                <a:srgbClr val="000000"/>
              </a:solidFill>
              <a:latin typeface="Arial"/>
              <a:ea typeface="Arial"/>
              <a:cs typeface="Arial"/>
              <a:sym typeface="Arial"/>
            </a:endParaRPr>
          </a:p>
          <a:p>
            <a:pPr indent="-355600" lvl="0" marL="457200" marR="0" rtl="0" algn="just">
              <a:lnSpc>
                <a:spcPct val="130000"/>
              </a:lnSpc>
              <a:spcBef>
                <a:spcPts val="1190"/>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Manual scanning in traditional billing systems increases the chances of human errors, such as scanning the wrong item, multiple scans, or missed items, resulting in inaccurate billing. </a:t>
            </a:r>
            <a:endParaRPr b="0" i="0" sz="2000" u="none" cap="none" strike="noStrike">
              <a:solidFill>
                <a:srgbClr val="000000"/>
              </a:solidFill>
              <a:latin typeface="Arial"/>
              <a:ea typeface="Arial"/>
              <a:cs typeface="Arial"/>
              <a:sym typeface="Arial"/>
            </a:endParaRPr>
          </a:p>
        </p:txBody>
      </p:sp>
      <p:sp>
        <p:nvSpPr>
          <p:cNvPr id="70" name="Google Shape;70;p12"/>
          <p:cNvSpPr txBox="1"/>
          <p:nvPr/>
        </p:nvSpPr>
        <p:spPr>
          <a:xfrm>
            <a:off x="192600" y="1061640"/>
            <a:ext cx="8520120" cy="71496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Clr>
                <a:srgbClr val="000000"/>
              </a:buClr>
              <a:buSzPts val="2200"/>
              <a:buFont typeface="Arial"/>
              <a:buNone/>
            </a:pPr>
            <a:r>
              <a:rPr b="1" i="0" lang="en-GB" sz="2200" u="none" cap="none" strike="noStrike">
                <a:solidFill>
                  <a:schemeClr val="dk1"/>
                </a:solidFill>
                <a:latin typeface="Times New Roman"/>
                <a:ea typeface="Times New Roman"/>
                <a:cs typeface="Times New Roman"/>
                <a:sym typeface="Times New Roman"/>
              </a:rPr>
              <a:t>        EXISTING SYSTEM</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3"/>
          <p:cNvSpPr txBox="1"/>
          <p:nvPr>
            <p:ph type="title"/>
          </p:nvPr>
        </p:nvSpPr>
        <p:spPr>
          <a:xfrm>
            <a:off x="0" y="0"/>
            <a:ext cx="9143640" cy="106128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t/>
            </a:r>
            <a:endParaRPr b="0" sz="5200" u="none" strike="noStrike">
              <a:solidFill>
                <a:schemeClr val="dk1"/>
              </a:solidFill>
              <a:latin typeface="Arial"/>
              <a:ea typeface="Arial"/>
              <a:cs typeface="Arial"/>
              <a:sym typeface="Arial"/>
            </a:endParaRPr>
          </a:p>
        </p:txBody>
      </p:sp>
      <p:sp>
        <p:nvSpPr>
          <p:cNvPr id="76" name="Google Shape;76;p13"/>
          <p:cNvSpPr txBox="1"/>
          <p:nvPr>
            <p:ph idx="1" type="subTitle"/>
          </p:nvPr>
        </p:nvSpPr>
        <p:spPr>
          <a:xfrm>
            <a:off x="192240" y="1061640"/>
            <a:ext cx="8520120" cy="71496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Clr>
                <a:schemeClr val="dk1"/>
              </a:buClr>
              <a:buSzPts val="2200"/>
              <a:buFont typeface="Times New Roman"/>
              <a:buNone/>
            </a:pPr>
            <a:r>
              <a:rPr b="1" i="0" lang="en-GB" sz="2200" u="none" cap="none" strike="noStrike">
                <a:solidFill>
                  <a:schemeClr val="dk1"/>
                </a:solidFill>
                <a:latin typeface="Times New Roman"/>
                <a:ea typeface="Times New Roman"/>
                <a:cs typeface="Times New Roman"/>
                <a:sym typeface="Times New Roman"/>
              </a:rPr>
              <a:t>        EXISTING SYSTEM</a:t>
            </a:r>
            <a:endParaRPr b="0" i="0" sz="2200" u="none" cap="none" strike="noStrike">
              <a:solidFill>
                <a:srgbClr val="000000"/>
              </a:solidFill>
              <a:latin typeface="Arial"/>
              <a:ea typeface="Arial"/>
              <a:cs typeface="Arial"/>
              <a:sym typeface="Arial"/>
            </a:endParaRPr>
          </a:p>
        </p:txBody>
      </p:sp>
      <p:pic>
        <p:nvPicPr>
          <p:cNvPr id="77" name="Google Shape;77;p13"/>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78" name="Google Shape;78;p13"/>
          <p:cNvSpPr/>
          <p:nvPr/>
        </p:nvSpPr>
        <p:spPr>
          <a:xfrm>
            <a:off x="0" y="1776600"/>
            <a:ext cx="9092520" cy="2441520"/>
          </a:xfrm>
          <a:prstGeom prst="rect">
            <a:avLst/>
          </a:prstGeom>
          <a:noFill/>
          <a:ln>
            <a:noFill/>
          </a:ln>
        </p:spPr>
        <p:txBody>
          <a:bodyPr anchorCtr="0" anchor="t" bIns="91425" lIns="91425" spcFirstLastPara="1" rIns="91425" wrap="square" tIns="91425">
            <a:noAutofit/>
          </a:bodyPr>
          <a:lstStyle/>
          <a:p>
            <a:pPr indent="-355600" lvl="0" marL="457200" marR="0" rtl="0" algn="just">
              <a:lnSpc>
                <a:spcPct val="130000"/>
              </a:lnSpc>
              <a:spcBef>
                <a:spcPts val="0"/>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The dependency on barcode scanners means that damaged or missing barcodes can cause delays and require manual price entry. </a:t>
            </a:r>
            <a:endParaRPr b="0" i="0" sz="2000" u="none" cap="none" strike="noStrike">
              <a:solidFill>
                <a:srgbClr val="000000"/>
              </a:solidFill>
              <a:latin typeface="Arial"/>
              <a:ea typeface="Arial"/>
              <a:cs typeface="Arial"/>
              <a:sym typeface="Arial"/>
            </a:endParaRPr>
          </a:p>
          <a:p>
            <a:pPr indent="-355600" lvl="0" marL="457200" marR="0" rtl="0" algn="just">
              <a:lnSpc>
                <a:spcPct val="130000"/>
              </a:lnSpc>
              <a:spcBef>
                <a:spcPts val="1190"/>
              </a:spcBef>
              <a:spcAft>
                <a:spcPts val="0"/>
              </a:spcAft>
              <a:buClr>
                <a:srgbClr val="000000"/>
              </a:buClr>
              <a:buSzPts val="2000"/>
              <a:buFont typeface="Times New Roman"/>
              <a:buChar char="●"/>
            </a:pPr>
            <a:r>
              <a:rPr b="0" i="0" lang="en-GB" sz="2000" u="none" cap="none" strike="noStrike">
                <a:solidFill>
                  <a:schemeClr val="dk1"/>
                </a:solidFill>
                <a:latin typeface="Times New Roman"/>
                <a:ea typeface="Times New Roman"/>
                <a:cs typeface="Times New Roman"/>
                <a:sym typeface="Times New Roman"/>
              </a:rPr>
              <a:t>Customers need to remove items from their carts for scanning, which adds inconvenience and increases the overall shopping time. </a:t>
            </a:r>
            <a:endParaRPr b="0" i="0" sz="2000" u="none" cap="none" strike="noStrike">
              <a:solidFill>
                <a:srgbClr val="000000"/>
              </a:solidFill>
              <a:latin typeface="Arial"/>
              <a:ea typeface="Arial"/>
              <a:cs typeface="Arial"/>
              <a:sym typeface="Arial"/>
            </a:endParaRPr>
          </a:p>
        </p:txBody>
      </p:sp>
      <p:sp>
        <p:nvSpPr>
          <p:cNvPr id="79" name="Google Shape;79;p13"/>
          <p:cNvSpPr/>
          <p:nvPr/>
        </p:nvSpPr>
        <p:spPr>
          <a:xfrm>
            <a:off x="262440" y="4677480"/>
            <a:ext cx="8662320" cy="334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ph idx="1" type="subTitle"/>
          </p:nvPr>
        </p:nvSpPr>
        <p:spPr>
          <a:xfrm>
            <a:off x="381600" y="1406880"/>
            <a:ext cx="8520120" cy="373608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SzPts val="1400"/>
              <a:buNone/>
            </a:pPr>
            <a:r>
              <a:t/>
            </a:r>
            <a:endParaRPr b="0" i="0" sz="2800" u="none" cap="none" strike="noStrike">
              <a:solidFill>
                <a:srgbClr val="000000"/>
              </a:solidFill>
              <a:latin typeface="Arial"/>
              <a:ea typeface="Arial"/>
              <a:cs typeface="Arial"/>
              <a:sym typeface="Arial"/>
            </a:endParaRPr>
          </a:p>
        </p:txBody>
      </p:sp>
      <p:pic>
        <p:nvPicPr>
          <p:cNvPr id="85" name="Google Shape;85;p14"/>
          <p:cNvPicPr preferRelativeResize="0"/>
          <p:nvPr/>
        </p:nvPicPr>
        <p:blipFill rotWithShape="1">
          <a:blip r:embed="rId3">
            <a:alphaModFix/>
          </a:blip>
          <a:srcRect b="0" l="0" r="0" t="0"/>
          <a:stretch/>
        </p:blipFill>
        <p:spPr>
          <a:xfrm>
            <a:off x="175" y="-81350"/>
            <a:ext cx="9143640" cy="1061280"/>
          </a:xfrm>
          <a:prstGeom prst="rect">
            <a:avLst/>
          </a:prstGeom>
          <a:noFill/>
          <a:ln>
            <a:noFill/>
          </a:ln>
        </p:spPr>
      </p:pic>
      <p:sp>
        <p:nvSpPr>
          <p:cNvPr id="86" name="Google Shape;86;p14"/>
          <p:cNvSpPr/>
          <p:nvPr/>
        </p:nvSpPr>
        <p:spPr>
          <a:xfrm>
            <a:off x="543960" y="4807800"/>
            <a:ext cx="829584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7</a:t>
            </a:r>
            <a:endParaRPr b="0" i="0" sz="1400" u="none" cap="none" strike="noStrike">
              <a:solidFill>
                <a:srgbClr val="000000"/>
              </a:solidFill>
              <a:latin typeface="Arial"/>
              <a:ea typeface="Arial"/>
              <a:cs typeface="Arial"/>
              <a:sym typeface="Arial"/>
            </a:endParaRPr>
          </a:p>
        </p:txBody>
      </p:sp>
      <p:graphicFrame>
        <p:nvGraphicFramePr>
          <p:cNvPr id="87" name="Google Shape;87;p14"/>
          <p:cNvGraphicFramePr/>
          <p:nvPr/>
        </p:nvGraphicFramePr>
        <p:xfrm>
          <a:off x="1438" y="1347775"/>
          <a:ext cx="3000000" cy="3000000"/>
        </p:xfrm>
        <a:graphic>
          <a:graphicData uri="http://schemas.openxmlformats.org/drawingml/2006/table">
            <a:tbl>
              <a:tblPr>
                <a:noFill/>
                <a:tableStyleId>{4A2AF684-CD40-4914-ADC5-D6E952FDDC81}</a:tableStyleId>
              </a:tblPr>
              <a:tblGrid>
                <a:gridCol w="819725"/>
                <a:gridCol w="2831400"/>
                <a:gridCol w="2986200"/>
                <a:gridCol w="2212200"/>
              </a:tblGrid>
              <a:tr h="707750">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SL NO</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Name of the Paper</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Outcome</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Author and Publication Details</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1A1A1A"/>
                      </a:solidFill>
                      <a:prstDash val="solid"/>
                      <a:round/>
                      <a:headEnd len="sm" w="sm" type="none"/>
                      <a:tailEnd len="sm" w="sm" type="none"/>
                    </a:lnB>
                    <a:solidFill>
                      <a:srgbClr val="000000"/>
                    </a:solidFill>
                  </a:tcPr>
                </a:tc>
              </a:tr>
              <a:tr h="2362325">
                <a:tc>
                  <a:txBody>
                    <a:bodyPr/>
                    <a:lstStyle/>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1</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just">
                        <a:lnSpc>
                          <a:spcPct val="100000"/>
                        </a:lnSpc>
                        <a:spcBef>
                          <a:spcPts val="1190"/>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Data transmission using RFID system on smart shopping carts for checkout process efficiency in supermarket at indonesia</a:t>
                      </a:r>
                      <a:endParaRPr sz="14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7975" lvl="0" marL="457200" marR="0" rtl="0" algn="just">
                        <a:lnSpc>
                          <a:spcPct val="100000"/>
                        </a:lnSpc>
                        <a:spcBef>
                          <a:spcPts val="0"/>
                        </a:spcBef>
                        <a:spcAft>
                          <a:spcPts val="0"/>
                        </a:spcAft>
                        <a:buClr>
                          <a:srgbClr val="000000"/>
                        </a:buClr>
                        <a:buSzPts val="1250"/>
                        <a:buFont typeface="Times New Roman"/>
                        <a:buChar char="●"/>
                      </a:pPr>
                      <a:r>
                        <a:rPr lang="en-GB" sz="1250" u="none" cap="none" strike="noStrike">
                          <a:solidFill>
                            <a:srgbClr val="000000"/>
                          </a:solidFill>
                          <a:latin typeface="Times New Roman"/>
                          <a:ea typeface="Times New Roman"/>
                          <a:cs typeface="Times New Roman"/>
                          <a:sym typeface="Times New Roman"/>
                        </a:rPr>
                        <a:t>The project resulted in the successful implementation of a Smart Shopping System, which reduced queue times by allowing customers to self-scan items, thus making the checkout process more efficient and convenient.</a:t>
                      </a:r>
                      <a:endParaRPr sz="1250" u="none" cap="none" strike="noStrike">
                        <a:solidFill>
                          <a:srgbClr val="000000"/>
                        </a:solidFill>
                        <a:latin typeface="Times New Roman"/>
                        <a:ea typeface="Times New Roman"/>
                        <a:cs typeface="Times New Roman"/>
                        <a:sym typeface="Times New Roman"/>
                      </a:endParaRPr>
                    </a:p>
                    <a:p>
                      <a:pPr indent="-307975" lvl="0" marL="457200" marR="0" rtl="0" algn="just">
                        <a:lnSpc>
                          <a:spcPct val="100000"/>
                        </a:lnSpc>
                        <a:spcBef>
                          <a:spcPts val="565"/>
                        </a:spcBef>
                        <a:spcAft>
                          <a:spcPts val="0"/>
                        </a:spcAft>
                        <a:buClr>
                          <a:srgbClr val="000000"/>
                        </a:buClr>
                        <a:buSzPts val="1250"/>
                        <a:buFont typeface="Times New Roman"/>
                        <a:buChar char="●"/>
                      </a:pPr>
                      <a:r>
                        <a:rPr lang="en-GB" sz="1250" u="none" cap="none" strike="noStrike">
                          <a:solidFill>
                            <a:srgbClr val="000000"/>
                          </a:solidFill>
                          <a:latin typeface="Times New Roman"/>
                          <a:ea typeface="Times New Roman"/>
                          <a:cs typeface="Times New Roman"/>
                          <a:sym typeface="Times New Roman"/>
                        </a:rPr>
                        <a:t>Customers need to familiarize themselves with the self-scanning feature and smartphone app, including scanning items, checking prices, and managing shopping lists. Some may face a learning curve while adapting to this technology. </a:t>
                      </a:r>
                      <a:endParaRPr sz="125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1A1A1A"/>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Martinusa , Metta Saridewi Wahaba , Yudia, Hanry Ham, published in the journal Procedia Computer Science, volume 179 on January 1, 2021 </a:t>
                      </a:r>
                      <a:endParaRPr sz="14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1A1A1A"/>
                      </a:solidFill>
                      <a:prstDash val="solid"/>
                      <a:round/>
                      <a:headEnd len="sm" w="sm" type="none"/>
                      <a:tailEnd len="sm" w="sm" type="none"/>
                    </a:lnL>
                    <a:lnR cap="flat" cmpd="sng" w="9525">
                      <a:solidFill>
                        <a:srgbClr val="1A1A1A"/>
                      </a:solidFill>
                      <a:prstDash val="solid"/>
                      <a:round/>
                      <a:headEnd len="sm" w="sm" type="none"/>
                      <a:tailEnd len="sm" w="sm" type="none"/>
                    </a:lnR>
                    <a:lnT cap="flat" cmpd="sng" w="9525">
                      <a:solidFill>
                        <a:srgbClr val="1A1A1A"/>
                      </a:solidFill>
                      <a:prstDash val="solid"/>
                      <a:round/>
                      <a:headEnd len="sm" w="sm" type="none"/>
                      <a:tailEnd len="sm" w="sm" type="none"/>
                    </a:lnT>
                    <a:lnB cap="flat" cmpd="sng" w="9525">
                      <a:solidFill>
                        <a:srgbClr val="1A1A1A"/>
                      </a:solidFill>
                      <a:prstDash val="solid"/>
                      <a:round/>
                      <a:headEnd len="sm" w="sm" type="none"/>
                      <a:tailEnd len="sm" w="sm" type="none"/>
                    </a:lnB>
                  </a:tcPr>
                </a:tc>
              </a:tr>
            </a:tbl>
          </a:graphicData>
        </a:graphic>
      </p:graphicFrame>
      <p:sp>
        <p:nvSpPr>
          <p:cNvPr id="88" name="Google Shape;88;p14"/>
          <p:cNvSpPr/>
          <p:nvPr/>
        </p:nvSpPr>
        <p:spPr>
          <a:xfrm>
            <a:off x="1112400" y="904320"/>
            <a:ext cx="6627600" cy="50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GB" sz="2100" u="none" cap="none" strike="noStrike">
                <a:solidFill>
                  <a:schemeClr val="dk1"/>
                </a:solidFill>
                <a:latin typeface="Times New Roman"/>
                <a:ea typeface="Times New Roman"/>
                <a:cs typeface="Times New Roman"/>
                <a:sym typeface="Times New Roman"/>
              </a:rPr>
              <a:t>LITERATURE REVIEW</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idx="1" type="subTitle"/>
          </p:nvPr>
        </p:nvSpPr>
        <p:spPr>
          <a:xfrm>
            <a:off x="358560" y="1132200"/>
            <a:ext cx="8520000" cy="37362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SzPts val="1400"/>
              <a:buNone/>
            </a:pPr>
            <a:r>
              <a:t/>
            </a:r>
            <a:endParaRPr b="0" i="0" sz="2800" u="none" cap="none" strike="noStrike">
              <a:solidFill>
                <a:srgbClr val="000000"/>
              </a:solidFill>
              <a:latin typeface="Arial"/>
              <a:ea typeface="Arial"/>
              <a:cs typeface="Arial"/>
              <a:sym typeface="Arial"/>
            </a:endParaRPr>
          </a:p>
        </p:txBody>
      </p:sp>
      <p:pic>
        <p:nvPicPr>
          <p:cNvPr id="94" name="Google Shape;94;p15"/>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95" name="Google Shape;95;p15"/>
          <p:cNvSpPr/>
          <p:nvPr/>
        </p:nvSpPr>
        <p:spPr>
          <a:xfrm>
            <a:off x="1069920" y="4807800"/>
            <a:ext cx="7575840" cy="396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No:8</a:t>
            </a:r>
            <a:endParaRPr b="0" i="0" sz="1400" u="none" cap="none" strike="noStrike">
              <a:solidFill>
                <a:srgbClr val="000000"/>
              </a:solidFill>
              <a:latin typeface="Arial"/>
              <a:ea typeface="Arial"/>
              <a:cs typeface="Arial"/>
              <a:sym typeface="Arial"/>
            </a:endParaRPr>
          </a:p>
        </p:txBody>
      </p:sp>
      <p:graphicFrame>
        <p:nvGraphicFramePr>
          <p:cNvPr id="96" name="Google Shape;96;p15"/>
          <p:cNvGraphicFramePr/>
          <p:nvPr/>
        </p:nvGraphicFramePr>
        <p:xfrm>
          <a:off x="310783" y="1156460"/>
          <a:ext cx="3000000" cy="3000000"/>
        </p:xfrm>
        <a:graphic>
          <a:graphicData uri="http://schemas.openxmlformats.org/drawingml/2006/table">
            <a:tbl>
              <a:tblPr>
                <a:noFill/>
                <a:tableStyleId>{4A2AF684-CD40-4914-ADC5-D6E952FDDC81}</a:tableStyleId>
              </a:tblPr>
              <a:tblGrid>
                <a:gridCol w="798125"/>
                <a:gridCol w="2756525"/>
                <a:gridCol w="2907000"/>
                <a:gridCol w="2153875"/>
              </a:tblGrid>
              <a:tr h="73152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solidFill>
                            <a:schemeClr val="lt1"/>
                          </a:solidFill>
                          <a:latin typeface="Times New Roman"/>
                          <a:ea typeface="Times New Roman"/>
                          <a:cs typeface="Times New Roman"/>
                          <a:sym typeface="Times New Roman"/>
                        </a:rPr>
                        <a:t>SL NO</a:t>
                      </a:r>
                      <a:endParaRPr b="0" sz="14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Name of the Paper</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Outcome</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Author and Publication Details</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r>
              <a:tr h="2549875">
                <a:tc>
                  <a:txBody>
                    <a:bodyPr/>
                    <a:lstStyle/>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2</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190"/>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Smart shopping cart using RFID technology </a:t>
                      </a:r>
                      <a:endParaRPr sz="14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7975" lvl="0" marL="457200" marR="0" rtl="0" algn="just">
                        <a:lnSpc>
                          <a:spcPct val="100000"/>
                        </a:lnSpc>
                        <a:spcBef>
                          <a:spcPts val="0"/>
                        </a:spcBef>
                        <a:spcAft>
                          <a:spcPts val="0"/>
                        </a:spcAft>
                        <a:buClr>
                          <a:srgbClr val="000000"/>
                        </a:buClr>
                        <a:buSzPts val="1250"/>
                        <a:buFont typeface="Times New Roman"/>
                        <a:buChar char="●"/>
                      </a:pPr>
                      <a:r>
                        <a:rPr lang="en-GB" sz="1250" u="none" cap="none" strike="noStrike">
                          <a:solidFill>
                            <a:srgbClr val="000000"/>
                          </a:solidFill>
                          <a:latin typeface="Times New Roman"/>
                          <a:ea typeface="Times New Roman"/>
                          <a:cs typeface="Times New Roman"/>
                          <a:sym typeface="Times New Roman"/>
                        </a:rPr>
                        <a:t>In this system, the customer begins by logging in via a QR code on the shopping cart, enabling a seamless shopping experience. The cart automatically detects items using RFID technology, updates the bill in real-time, and manages stock efficiently. </a:t>
                      </a:r>
                      <a:endParaRPr sz="1250" u="none" cap="none" strike="noStrike">
                        <a:solidFill>
                          <a:srgbClr val="000000"/>
                        </a:solidFill>
                        <a:latin typeface="Times New Roman"/>
                        <a:ea typeface="Times New Roman"/>
                        <a:cs typeface="Times New Roman"/>
                        <a:sym typeface="Times New Roman"/>
                      </a:endParaRPr>
                    </a:p>
                    <a:p>
                      <a:pPr indent="-307975" lvl="0" marL="457200" marR="0" rtl="0" algn="just">
                        <a:lnSpc>
                          <a:spcPct val="100000"/>
                        </a:lnSpc>
                        <a:spcBef>
                          <a:spcPts val="55"/>
                        </a:spcBef>
                        <a:spcAft>
                          <a:spcPts val="0"/>
                        </a:spcAft>
                        <a:buClr>
                          <a:srgbClr val="000000"/>
                        </a:buClr>
                        <a:buSzPts val="1250"/>
                        <a:buFont typeface="Times New Roman"/>
                        <a:buChar char="●"/>
                      </a:pPr>
                      <a:r>
                        <a:rPr lang="en-GB" sz="1250" u="none" cap="none" strike="noStrike">
                          <a:solidFill>
                            <a:srgbClr val="000000"/>
                          </a:solidFill>
                          <a:latin typeface="Times New Roman"/>
                          <a:ea typeface="Times New Roman"/>
                          <a:cs typeface="Times New Roman"/>
                          <a:sym typeface="Times New Roman"/>
                        </a:rPr>
                        <a:t>A challenge in this system is ensuring user-friendly QR code login process, as some customers may face difficulties with scanning, app compatibility, or network issues, potentially delaying their shopping experience. </a:t>
                      </a:r>
                      <a:endParaRPr sz="125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GB" sz="1500" u="none" cap="none" strike="noStrike">
                          <a:solidFill>
                            <a:schemeClr val="dk1"/>
                          </a:solidFill>
                          <a:latin typeface="Times New Roman"/>
                          <a:ea typeface="Times New Roman"/>
                          <a:cs typeface="Times New Roman"/>
                          <a:sym typeface="Times New Roman"/>
                        </a:rPr>
                        <a:t>Susanna M Santhosh, Cemone P Babu, Jills Joseph , Preethu Benny,</a:t>
                      </a:r>
                      <a:endParaRPr sz="15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500"/>
                        <a:buFont typeface="Arial"/>
                        <a:buNone/>
                      </a:pPr>
                      <a:r>
                        <a:rPr lang="en-GB" sz="1500" u="none" cap="none" strike="noStrike">
                          <a:solidFill>
                            <a:schemeClr val="dk1"/>
                          </a:solidFill>
                          <a:latin typeface="Times New Roman"/>
                          <a:ea typeface="Times New Roman"/>
                          <a:cs typeface="Times New Roman"/>
                          <a:sym typeface="Times New Roman"/>
                        </a:rPr>
                        <a:t>published in the International Journal of Engineering Applied Sciences and Technology (IJEAST), Volume 5, on June 2020. </a:t>
                      </a:r>
                      <a:endParaRPr sz="15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idx="1" type="subTitle"/>
          </p:nvPr>
        </p:nvSpPr>
        <p:spPr>
          <a:xfrm>
            <a:off x="358560" y="1132200"/>
            <a:ext cx="8520120" cy="373608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SzPts val="1400"/>
              <a:buNone/>
            </a:pPr>
            <a:r>
              <a:t/>
            </a:r>
            <a:endParaRPr b="0" i="0" sz="2800" u="none" cap="none" strike="noStrike">
              <a:solidFill>
                <a:srgbClr val="000000"/>
              </a:solidFill>
              <a:latin typeface="Arial"/>
              <a:ea typeface="Arial"/>
              <a:cs typeface="Arial"/>
              <a:sym typeface="Arial"/>
            </a:endParaRPr>
          </a:p>
        </p:txBody>
      </p:sp>
      <p:pic>
        <p:nvPicPr>
          <p:cNvPr id="102" name="Google Shape;102;p16"/>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03" name="Google Shape;103;p16"/>
          <p:cNvSpPr/>
          <p:nvPr/>
        </p:nvSpPr>
        <p:spPr>
          <a:xfrm>
            <a:off x="552960" y="4868760"/>
            <a:ext cx="832572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9</a:t>
            </a:r>
            <a:endParaRPr b="0" i="0" sz="1400" u="none" cap="none" strike="noStrike">
              <a:solidFill>
                <a:srgbClr val="000000"/>
              </a:solidFill>
              <a:latin typeface="Arial"/>
              <a:ea typeface="Arial"/>
              <a:cs typeface="Arial"/>
              <a:sym typeface="Arial"/>
            </a:endParaRPr>
          </a:p>
        </p:txBody>
      </p:sp>
      <p:graphicFrame>
        <p:nvGraphicFramePr>
          <p:cNvPr id="104" name="Google Shape;104;p16"/>
          <p:cNvGraphicFramePr/>
          <p:nvPr/>
        </p:nvGraphicFramePr>
        <p:xfrm>
          <a:off x="197980" y="1060020"/>
          <a:ext cx="3000000" cy="3000000"/>
        </p:xfrm>
        <a:graphic>
          <a:graphicData uri="http://schemas.openxmlformats.org/drawingml/2006/table">
            <a:tbl>
              <a:tblPr>
                <a:noFill/>
                <a:tableStyleId>{4A2AF684-CD40-4914-ADC5-D6E952FDDC81}</a:tableStyleId>
              </a:tblPr>
              <a:tblGrid>
                <a:gridCol w="808200"/>
                <a:gridCol w="2791800"/>
                <a:gridCol w="2944450"/>
                <a:gridCol w="2136250"/>
              </a:tblGrid>
              <a:tr h="633950">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SL NO</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Name of the Paper</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Outcome</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Author and Publication Details</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r>
              <a:tr h="3093850">
                <a:tc>
                  <a:txBody>
                    <a:bodyPr/>
                    <a:lstStyle/>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3</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500"/>
                        </a:spcBef>
                        <a:spcAft>
                          <a:spcPts val="0"/>
                        </a:spcAft>
                        <a:buClr>
                          <a:srgbClr val="000000"/>
                        </a:buClr>
                        <a:buSzPts val="1600"/>
                        <a:buFont typeface="Arial"/>
                        <a:buNone/>
                      </a:pPr>
                      <a:r>
                        <a:t/>
                      </a:r>
                      <a:endParaRPr sz="1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190"/>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IOT based Smart Shopping Cart using RFID</a:t>
                      </a:r>
                      <a:endParaRPr sz="14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25095" lvl="0" marL="274320" marR="0" rtl="0" algn="just">
                        <a:lnSpc>
                          <a:spcPct val="115000"/>
                        </a:lnSpc>
                        <a:spcBef>
                          <a:spcPts val="0"/>
                        </a:spcBef>
                        <a:spcAft>
                          <a:spcPts val="0"/>
                        </a:spcAft>
                        <a:buClr>
                          <a:srgbClr val="1A1A1A"/>
                        </a:buClr>
                        <a:buSzPts val="1250"/>
                        <a:buFont typeface="Times New Roman"/>
                        <a:buChar char="●"/>
                      </a:pPr>
                      <a:r>
                        <a:rPr lang="en-GB" sz="1250" u="none" cap="none" strike="noStrike">
                          <a:solidFill>
                            <a:srgbClr val="1A1A1A"/>
                          </a:solidFill>
                          <a:highlight>
                            <a:srgbClr val="FFFFFF"/>
                          </a:highlight>
                          <a:latin typeface="Times New Roman"/>
                          <a:ea typeface="Times New Roman"/>
                          <a:cs typeface="Times New Roman"/>
                          <a:sym typeface="Times New Roman"/>
                        </a:rPr>
                        <a:t> This system utilizes RFID technology, an Arduino microcontroller, and a Bluetooth module to track items in real time and automate billing. It reduces checkout times, provides product details, and updates inventory by recording purchases and generating bills automatically.  </a:t>
                      </a:r>
                      <a:endParaRPr sz="1250" u="none" cap="none" strike="noStrike">
                        <a:solidFill>
                          <a:srgbClr val="000000"/>
                        </a:solidFill>
                        <a:latin typeface="Times New Roman"/>
                        <a:ea typeface="Times New Roman"/>
                        <a:cs typeface="Times New Roman"/>
                        <a:sym typeface="Times New Roman"/>
                      </a:endParaRPr>
                    </a:p>
                    <a:p>
                      <a:pPr indent="-125095" lvl="0" marL="274320" marR="0" rtl="0" algn="just">
                        <a:lnSpc>
                          <a:spcPct val="115000"/>
                        </a:lnSpc>
                        <a:spcBef>
                          <a:spcPts val="710"/>
                        </a:spcBef>
                        <a:spcAft>
                          <a:spcPts val="0"/>
                        </a:spcAft>
                        <a:buClr>
                          <a:srgbClr val="1A1A1A"/>
                        </a:buClr>
                        <a:buSzPts val="1250"/>
                        <a:buFont typeface="Times New Roman"/>
                        <a:buChar char="●"/>
                      </a:pPr>
                      <a:r>
                        <a:rPr lang="en-GB" sz="1250" u="none" cap="none" strike="noStrike">
                          <a:solidFill>
                            <a:srgbClr val="1A1A1A"/>
                          </a:solidFill>
                          <a:highlight>
                            <a:srgbClr val="FFFFFF"/>
                          </a:highlight>
                          <a:latin typeface="Times New Roman"/>
                          <a:ea typeface="Times New Roman"/>
                          <a:cs typeface="Times New Roman"/>
                          <a:sym typeface="Times New Roman"/>
                        </a:rPr>
                        <a:t>The main challenges faced in this project include high initial setup costs, customer adaptation to new technology, ensuring data privacy and security, and the need for regular maintenance and updates</a:t>
                      </a:r>
                      <a:r>
                        <a:rPr lang="en-GB" sz="1000" u="none" cap="none" strike="noStrike">
                          <a:solidFill>
                            <a:srgbClr val="1A1A1A"/>
                          </a:solidFill>
                          <a:highlight>
                            <a:srgbClr val="FFFFFF"/>
                          </a:highlight>
                          <a:latin typeface="Times New Roman"/>
                          <a:ea typeface="Times New Roman"/>
                          <a:cs typeface="Times New Roman"/>
                          <a:sym typeface="Times New Roman"/>
                        </a:rPr>
                        <a:t>. </a:t>
                      </a:r>
                      <a:endParaRPr sz="10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Seshagopal , Harish D , Ashwinth Fatin , Dr. Antonidoss ,</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published in the International Journal of Engineering Research &amp; Technology (IJERT), Volume 10, Issue 04, in April 2021. </a:t>
                      </a:r>
                      <a:endParaRPr sz="14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idx="1" type="subTitle"/>
          </p:nvPr>
        </p:nvSpPr>
        <p:spPr>
          <a:xfrm>
            <a:off x="358560" y="1132200"/>
            <a:ext cx="8520120" cy="373608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SzPts val="1400"/>
              <a:buNone/>
            </a:pPr>
            <a:r>
              <a:t/>
            </a:r>
            <a:endParaRPr b="0" i="0" sz="2800" u="none" cap="none" strike="noStrike">
              <a:solidFill>
                <a:srgbClr val="000000"/>
              </a:solidFill>
              <a:latin typeface="Arial"/>
              <a:ea typeface="Arial"/>
              <a:cs typeface="Arial"/>
              <a:sym typeface="Arial"/>
            </a:endParaRPr>
          </a:p>
        </p:txBody>
      </p:sp>
      <p:pic>
        <p:nvPicPr>
          <p:cNvPr id="110" name="Google Shape;110;p17"/>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11" name="Google Shape;111;p17"/>
          <p:cNvSpPr/>
          <p:nvPr/>
        </p:nvSpPr>
        <p:spPr>
          <a:xfrm>
            <a:off x="338770" y="4939210"/>
            <a:ext cx="82074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10</a:t>
            </a:r>
            <a:endParaRPr b="0" i="0" sz="1400" u="none" cap="none" strike="noStrike">
              <a:solidFill>
                <a:srgbClr val="000000"/>
              </a:solidFill>
              <a:latin typeface="Arial"/>
              <a:ea typeface="Arial"/>
              <a:cs typeface="Arial"/>
              <a:sym typeface="Arial"/>
            </a:endParaRPr>
          </a:p>
        </p:txBody>
      </p:sp>
      <p:graphicFrame>
        <p:nvGraphicFramePr>
          <p:cNvPr id="112" name="Google Shape;112;p17"/>
          <p:cNvGraphicFramePr/>
          <p:nvPr/>
        </p:nvGraphicFramePr>
        <p:xfrm>
          <a:off x="17640" y="1107720"/>
          <a:ext cx="3000000" cy="3000000"/>
        </p:xfrm>
        <a:graphic>
          <a:graphicData uri="http://schemas.openxmlformats.org/drawingml/2006/table">
            <a:tbl>
              <a:tblPr>
                <a:noFill/>
                <a:tableStyleId>{4A2AF684-CD40-4914-ADC5-D6E952FDDC81}</a:tableStyleId>
              </a:tblPr>
              <a:tblGrid>
                <a:gridCol w="819725"/>
                <a:gridCol w="2831400"/>
                <a:gridCol w="2986200"/>
                <a:gridCol w="2212200"/>
              </a:tblGrid>
              <a:tr h="881275">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SL NO</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Name of the Paper</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Outcome</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Author and Publication Details</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r>
              <a:tr h="2134075">
                <a:tc>
                  <a:txBody>
                    <a:bodyPr/>
                    <a:lstStyle/>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1135"/>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1135"/>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1135"/>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4</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1135"/>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RFID Based Smart Shopping Cart for Smart Shopping Enhanced with IoT</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135"/>
                        </a:spcBef>
                        <a:spcAft>
                          <a:spcPts val="0"/>
                        </a:spcAft>
                        <a:buClr>
                          <a:srgbClr val="000000"/>
                        </a:buClr>
                        <a:buSzPts val="1600"/>
                        <a:buFont typeface="Arial"/>
                        <a:buNone/>
                      </a:pPr>
                      <a:r>
                        <a:t/>
                      </a:r>
                      <a:endParaRPr sz="16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7975" lvl="0" marL="457200" marR="0" rtl="0" algn="l">
                        <a:lnSpc>
                          <a:spcPct val="115000"/>
                        </a:lnSpc>
                        <a:spcBef>
                          <a:spcPts val="0"/>
                        </a:spcBef>
                        <a:spcAft>
                          <a:spcPts val="0"/>
                        </a:spcAft>
                        <a:buClr>
                          <a:srgbClr val="1A1A1A"/>
                        </a:buClr>
                        <a:buSzPts val="1250"/>
                        <a:buFont typeface="Times New Roman"/>
                        <a:buChar char="●"/>
                      </a:pPr>
                      <a:r>
                        <a:rPr lang="en-GB" sz="1250" u="none" cap="none" strike="noStrike">
                          <a:solidFill>
                            <a:srgbClr val="1A1A1A"/>
                          </a:solidFill>
                          <a:highlight>
                            <a:srgbClr val="FFFFFF"/>
                          </a:highlight>
                          <a:latin typeface="Times New Roman"/>
                          <a:ea typeface="Times New Roman"/>
                          <a:cs typeface="Times New Roman"/>
                          <a:sym typeface="Times New Roman"/>
                        </a:rPr>
                        <a:t>This RFID-based system automates billing by scanning tagged products and displaying details on an LCD screen. It reduces wait times and uses GSM modules for real-time updates and notifications. </a:t>
                      </a:r>
                      <a:endParaRPr sz="1250" u="none" cap="none" strike="noStrike">
                        <a:solidFill>
                          <a:srgbClr val="000000"/>
                        </a:solidFill>
                        <a:latin typeface="Times New Roman"/>
                        <a:ea typeface="Times New Roman"/>
                        <a:cs typeface="Times New Roman"/>
                        <a:sym typeface="Times New Roman"/>
                      </a:endParaRPr>
                    </a:p>
                    <a:p>
                      <a:pPr indent="-307975" lvl="0" marL="457200" marR="0" rtl="0" algn="l">
                        <a:lnSpc>
                          <a:spcPct val="115000"/>
                        </a:lnSpc>
                        <a:spcBef>
                          <a:spcPts val="1135"/>
                        </a:spcBef>
                        <a:spcAft>
                          <a:spcPts val="0"/>
                        </a:spcAft>
                        <a:buClr>
                          <a:srgbClr val="1A1A1A"/>
                        </a:buClr>
                        <a:buSzPts val="1250"/>
                        <a:buFont typeface="Times New Roman"/>
                        <a:buChar char="●"/>
                      </a:pPr>
                      <a:r>
                        <a:rPr lang="en-GB" sz="1250" u="none" cap="none" strike="noStrike">
                          <a:solidFill>
                            <a:srgbClr val="1A1A1A"/>
                          </a:solidFill>
                          <a:highlight>
                            <a:srgbClr val="FFFFFF"/>
                          </a:highlight>
                          <a:latin typeface="Times New Roman"/>
                          <a:ea typeface="Times New Roman"/>
                          <a:cs typeface="Times New Roman"/>
                          <a:sym typeface="Times New Roman"/>
                        </a:rPr>
                        <a:t>A challenge in this system is maintaining stable GSM connectivity, as network issues or poor signal strength may disrupt real-time, affecting the efficiency of the checkout process </a:t>
                      </a:r>
                      <a:endParaRPr sz="1250" u="none" cap="none" strike="noStrike">
                        <a:solidFill>
                          <a:srgbClr val="000000"/>
                        </a:solidFill>
                        <a:latin typeface="Times New Roman"/>
                        <a:ea typeface="Times New Roman"/>
                        <a:cs typeface="Times New Roman"/>
                        <a:sym typeface="Times New Roman"/>
                      </a:endParaRPr>
                    </a:p>
                  </a:txBody>
                  <a:tcPr marT="45725" marB="4572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K Sreenivasa Rao,Ayesha Shaik, N Dineshsairamreddy,  H Anusha, A Guru Rajesh,</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135"/>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published in the Journal of Emerging Technologies and Innovative Research (JETIR), Volume 10, Issue 3, in March 2023. </a:t>
                      </a:r>
                      <a:endParaRPr sz="14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idx="1" type="subTitle"/>
          </p:nvPr>
        </p:nvSpPr>
        <p:spPr>
          <a:xfrm>
            <a:off x="358560" y="1132200"/>
            <a:ext cx="8520120" cy="373608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SzPts val="1400"/>
              <a:buNone/>
            </a:pPr>
            <a:r>
              <a:t/>
            </a:r>
            <a:endParaRPr b="0" i="0" sz="2800" u="none" cap="none" strike="noStrike">
              <a:solidFill>
                <a:srgbClr val="000000"/>
              </a:solidFill>
              <a:latin typeface="Arial"/>
              <a:ea typeface="Arial"/>
              <a:cs typeface="Arial"/>
              <a:sym typeface="Arial"/>
            </a:endParaRPr>
          </a:p>
        </p:txBody>
      </p:sp>
      <p:pic>
        <p:nvPicPr>
          <p:cNvPr id="118" name="Google Shape;118;p18"/>
          <p:cNvPicPr preferRelativeResize="0"/>
          <p:nvPr/>
        </p:nvPicPr>
        <p:blipFill rotWithShape="1">
          <a:blip r:embed="rId3">
            <a:alphaModFix/>
          </a:blip>
          <a:srcRect b="0" l="0" r="0" t="0"/>
          <a:stretch/>
        </p:blipFill>
        <p:spPr>
          <a:xfrm>
            <a:off x="360" y="-161280"/>
            <a:ext cx="9143640" cy="1061280"/>
          </a:xfrm>
          <a:prstGeom prst="rect">
            <a:avLst/>
          </a:prstGeom>
          <a:noFill/>
          <a:ln>
            <a:noFill/>
          </a:ln>
        </p:spPr>
      </p:pic>
      <p:sp>
        <p:nvSpPr>
          <p:cNvPr id="119" name="Google Shape;119;p18"/>
          <p:cNvSpPr/>
          <p:nvPr/>
        </p:nvSpPr>
        <p:spPr>
          <a:xfrm>
            <a:off x="258120" y="4807800"/>
            <a:ext cx="862092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11</a:t>
            </a:r>
            <a:endParaRPr b="0" i="0" sz="1400" u="none" cap="none" strike="noStrike">
              <a:solidFill>
                <a:srgbClr val="000000"/>
              </a:solidFill>
              <a:latin typeface="Arial"/>
              <a:ea typeface="Arial"/>
              <a:cs typeface="Arial"/>
              <a:sym typeface="Arial"/>
            </a:endParaRPr>
          </a:p>
        </p:txBody>
      </p:sp>
      <p:graphicFrame>
        <p:nvGraphicFramePr>
          <p:cNvPr id="120" name="Google Shape;120;p18"/>
          <p:cNvGraphicFramePr/>
          <p:nvPr/>
        </p:nvGraphicFramePr>
        <p:xfrm>
          <a:off x="55790" y="900005"/>
          <a:ext cx="3000000" cy="3000000"/>
        </p:xfrm>
        <a:graphic>
          <a:graphicData uri="http://schemas.openxmlformats.org/drawingml/2006/table">
            <a:tbl>
              <a:tblPr>
                <a:noFill/>
                <a:tableStyleId>{4A2AF684-CD40-4914-ADC5-D6E952FDDC81}</a:tableStyleId>
              </a:tblPr>
              <a:tblGrid>
                <a:gridCol w="817200"/>
                <a:gridCol w="2823125"/>
                <a:gridCol w="2977200"/>
                <a:gridCol w="2205725"/>
              </a:tblGrid>
              <a:tr h="708125">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SL NO</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Name of the Paper</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Outcome</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chemeClr val="lt1"/>
                          </a:solidFill>
                          <a:latin typeface="Times New Roman"/>
                          <a:ea typeface="Times New Roman"/>
                          <a:cs typeface="Times New Roman"/>
                          <a:sym typeface="Times New Roman"/>
                        </a:rPr>
                        <a:t>Author and Publication Details</a:t>
                      </a:r>
                      <a:endParaRPr b="0" sz="1600" u="none" cap="none" strike="noStrike">
                        <a:solidFill>
                          <a:srgbClr val="FFFFFF"/>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0000"/>
                    </a:solidFill>
                  </a:tcPr>
                </a:tc>
              </a:tr>
              <a:tr h="2405150">
                <a:tc>
                  <a:txBody>
                    <a:bodyPr/>
                    <a:lstStyle/>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en-GB" sz="1400" u="none" cap="none" strike="noStrike">
                          <a:solidFill>
                            <a:srgbClr val="000000"/>
                          </a:solidFill>
                          <a:latin typeface="Arial"/>
                          <a:ea typeface="Arial"/>
                          <a:cs typeface="Arial"/>
                          <a:sym typeface="Arial"/>
                        </a:rPr>
                        <a:t>5</a:t>
                      </a:r>
                      <a:endParaRPr b="0" sz="1400" u="none" cap="none" strike="noStrike">
                        <a:solidFill>
                          <a:srgbClr val="000000"/>
                        </a:solidFill>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190"/>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Research on Smart Shopping Cart</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290"/>
                        </a:spcBef>
                        <a:spcAft>
                          <a:spcPts val="0"/>
                        </a:spcAft>
                        <a:buClr>
                          <a:srgbClr val="000000"/>
                        </a:buClr>
                        <a:buSzPts val="1600"/>
                        <a:buFont typeface="Arial"/>
                        <a:buNone/>
                      </a:pPr>
                      <a:r>
                        <a:t/>
                      </a:r>
                      <a:endParaRPr sz="16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25095" lvl="0" marL="274320" marR="0" rtl="0" algn="just">
                        <a:lnSpc>
                          <a:spcPct val="100000"/>
                        </a:lnSpc>
                        <a:spcBef>
                          <a:spcPts val="0"/>
                        </a:spcBef>
                        <a:spcAft>
                          <a:spcPts val="0"/>
                        </a:spcAft>
                        <a:buClr>
                          <a:srgbClr val="000000"/>
                        </a:buClr>
                        <a:buSzPts val="1250"/>
                        <a:buFont typeface="Times New Roman"/>
                        <a:buChar char="●"/>
                      </a:pPr>
                      <a:r>
                        <a:rPr lang="en-GB" sz="1250" u="none" cap="none" strike="noStrike">
                          <a:solidFill>
                            <a:srgbClr val="000000"/>
                          </a:solidFill>
                          <a:latin typeface="Times New Roman"/>
                          <a:ea typeface="Times New Roman"/>
                          <a:cs typeface="Times New Roman"/>
                          <a:sym typeface="Times New Roman"/>
                        </a:rPr>
                        <a:t>This project develops an IoT-based Smart Shopping Cart using RFID technology to automate billing and enhance the shopping experience. It features automatic item detection, reduces checkout wait times. The system integrates an microcontroller, GSM module, LCD, and keypad to display costs.</a:t>
                      </a:r>
                      <a:endParaRPr sz="1250" u="none" cap="none" strike="noStrike">
                        <a:solidFill>
                          <a:srgbClr val="000000"/>
                        </a:solidFill>
                        <a:latin typeface="Times New Roman"/>
                        <a:ea typeface="Times New Roman"/>
                        <a:cs typeface="Times New Roman"/>
                        <a:sym typeface="Times New Roman"/>
                      </a:endParaRPr>
                    </a:p>
                    <a:p>
                      <a:pPr indent="-125095" lvl="0" marL="274320" marR="0" rtl="0" algn="just">
                        <a:lnSpc>
                          <a:spcPct val="100000"/>
                        </a:lnSpc>
                        <a:spcBef>
                          <a:spcPts val="0"/>
                        </a:spcBef>
                        <a:spcAft>
                          <a:spcPts val="0"/>
                        </a:spcAft>
                        <a:buClr>
                          <a:srgbClr val="000000"/>
                        </a:buClr>
                        <a:buSzPts val="1250"/>
                        <a:buFont typeface="Times New Roman"/>
                        <a:buChar char="●"/>
                      </a:pPr>
                      <a:r>
                        <a:rPr lang="en-GB" sz="1250" u="none" cap="none" strike="noStrike">
                          <a:solidFill>
                            <a:srgbClr val="000000"/>
                          </a:solidFill>
                          <a:latin typeface="Times New Roman"/>
                          <a:ea typeface="Times New Roman"/>
                          <a:cs typeface="Times New Roman"/>
                          <a:sym typeface="Times New Roman"/>
                        </a:rPr>
                        <a:t>challenge for this system is ensuring seamless communication between the GSM module and the server, as network disruptions or delays could affect real-time transaction updates and payment notifications, leading to a less efficient shopping experience. </a:t>
                      </a:r>
                      <a:endParaRPr sz="125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65"/>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Prof. Roopa C , Nivas Chandra Reddy,</a:t>
                      </a:r>
                      <a:endParaRPr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65"/>
                        </a:spcBef>
                        <a:spcAft>
                          <a:spcPts val="0"/>
                        </a:spcAft>
                        <a:buClr>
                          <a:srgbClr val="000000"/>
                        </a:buClr>
                        <a:buSzPts val="1400"/>
                        <a:buFont typeface="Arial"/>
                        <a:buNone/>
                      </a:pPr>
                      <a:r>
                        <a:rPr lang="en-GB" sz="1400" u="none" cap="none" strike="noStrike">
                          <a:solidFill>
                            <a:schemeClr val="dk1"/>
                          </a:solidFill>
                          <a:latin typeface="Times New Roman"/>
                          <a:ea typeface="Times New Roman"/>
                          <a:cs typeface="Times New Roman"/>
                          <a:sym typeface="Times New Roman"/>
                        </a:rPr>
                        <a:t>published in the Journal of Emerging Technologies and Innovative Research (JETIR), Volume 11, Issue 3, in March 2024. </a:t>
                      </a:r>
                      <a:endParaRPr sz="1400" u="none" cap="none" strike="noStrike">
                        <a:solidFill>
                          <a:srgbClr val="000000"/>
                        </a:solidFill>
                        <a:latin typeface="Times New Roman"/>
                        <a:ea typeface="Times New Roman"/>
                        <a:cs typeface="Times New Roman"/>
                        <a:sym typeface="Times New Roman"/>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idx="1" type="subTitle"/>
          </p:nvPr>
        </p:nvSpPr>
        <p:spPr>
          <a:xfrm>
            <a:off x="383400" y="1132200"/>
            <a:ext cx="8495640" cy="3646800"/>
          </a:xfrm>
          <a:prstGeom prst="rect">
            <a:avLst/>
          </a:prstGeom>
          <a:noFill/>
          <a:ln>
            <a:noFill/>
          </a:ln>
        </p:spPr>
        <p:txBody>
          <a:bodyPr anchorCtr="0" anchor="t" bIns="91425" lIns="91425" spcFirstLastPara="1" rIns="91425" wrap="square" tIns="91425">
            <a:normAutofit fontScale="25000"/>
          </a:bodyPr>
          <a:lstStyle/>
          <a:p>
            <a:pPr indent="0" lvl="0" marL="0" marR="0" rtl="0" algn="l">
              <a:lnSpc>
                <a:spcPct val="80000"/>
              </a:lnSpc>
              <a:spcBef>
                <a:spcPts val="0"/>
              </a:spcBef>
              <a:spcAft>
                <a:spcPts val="0"/>
              </a:spcAft>
              <a:buSzPct val="255000"/>
              <a:buNone/>
            </a:pPr>
            <a:r>
              <a:rPr b="1" i="0" lang="en-GB" sz="2200" u="none" cap="none" strike="noStrike">
                <a:solidFill>
                  <a:schemeClr val="dk1"/>
                </a:solidFill>
                <a:latin typeface="Times New Roman"/>
                <a:ea typeface="Times New Roman"/>
                <a:cs typeface="Times New Roman"/>
                <a:sym typeface="Times New Roman"/>
              </a:rPr>
              <a:t>                                    </a:t>
            </a:r>
            <a:r>
              <a:rPr b="1" i="0" lang="en-GB" sz="11050" u="none" cap="none" strike="noStrike">
                <a:solidFill>
                  <a:schemeClr val="dk1"/>
                </a:solidFill>
                <a:latin typeface="Times New Roman"/>
                <a:ea typeface="Times New Roman"/>
                <a:cs typeface="Times New Roman"/>
                <a:sym typeface="Times New Roman"/>
              </a:rPr>
              <a:t>                      </a:t>
            </a:r>
            <a:r>
              <a:rPr b="1" i="0" lang="en-GB" sz="8650" u="none" cap="none" strike="noStrike">
                <a:solidFill>
                  <a:schemeClr val="dk1"/>
                </a:solidFill>
                <a:latin typeface="Times New Roman"/>
                <a:ea typeface="Times New Roman"/>
                <a:cs typeface="Times New Roman"/>
                <a:sym typeface="Times New Roman"/>
              </a:rPr>
              <a:t>PROPOSED SYSTEM</a:t>
            </a:r>
            <a:endParaRPr b="0" i="0" sz="8650" u="none" cap="none" strike="noStrike">
              <a:solidFill>
                <a:srgbClr val="000000"/>
              </a:solidFill>
              <a:latin typeface="Arial"/>
              <a:ea typeface="Arial"/>
              <a:cs typeface="Arial"/>
              <a:sym typeface="Arial"/>
            </a:endParaRPr>
          </a:p>
          <a:p>
            <a:pPr indent="-127000" lvl="0" marL="0" rtl="0" algn="just">
              <a:lnSpc>
                <a:spcPct val="150000"/>
              </a:lnSpc>
              <a:spcBef>
                <a:spcPts val="0"/>
              </a:spcBef>
              <a:spcAft>
                <a:spcPts val="0"/>
              </a:spcAft>
              <a:buSzPct val="100000"/>
              <a:buFont typeface="Times New Roman"/>
              <a:buChar char="●"/>
            </a:pPr>
            <a:r>
              <a:rPr lang="en-GB" sz="8000">
                <a:solidFill>
                  <a:schemeClr val="dk1"/>
                </a:solidFill>
                <a:latin typeface="Times New Roman"/>
                <a:ea typeface="Times New Roman"/>
                <a:cs typeface="Times New Roman"/>
                <a:sym typeface="Times New Roman"/>
              </a:rPr>
              <a:t>RFID Scanning: Scan items as you add them to the cart for instant recording.</a:t>
            </a:r>
            <a:endParaRPr sz="8000">
              <a:solidFill>
                <a:schemeClr val="dk1"/>
              </a:solidFill>
              <a:latin typeface="Times New Roman"/>
              <a:ea typeface="Times New Roman"/>
              <a:cs typeface="Times New Roman"/>
              <a:sym typeface="Times New Roman"/>
            </a:endParaRPr>
          </a:p>
          <a:p>
            <a:pPr indent="-127000" lvl="0" marL="0" rtl="0" algn="just">
              <a:lnSpc>
                <a:spcPct val="150000"/>
              </a:lnSpc>
              <a:spcBef>
                <a:spcPts val="0"/>
              </a:spcBef>
              <a:spcAft>
                <a:spcPts val="0"/>
              </a:spcAft>
              <a:buSzPct val="100000"/>
              <a:buFont typeface="Times New Roman"/>
              <a:buChar char="●"/>
            </a:pPr>
            <a:r>
              <a:rPr lang="en-GB" sz="8000">
                <a:solidFill>
                  <a:schemeClr val="dk1"/>
                </a:solidFill>
                <a:latin typeface="Times New Roman"/>
                <a:ea typeface="Times New Roman"/>
                <a:cs typeface="Times New Roman"/>
                <a:sym typeface="Times New Roman"/>
              </a:rPr>
              <a:t>Real-Time Display: LCD screen displays item details and updated totals.</a:t>
            </a:r>
            <a:endParaRPr sz="8000">
              <a:solidFill>
                <a:schemeClr val="dk1"/>
              </a:solidFill>
              <a:latin typeface="Times New Roman"/>
              <a:ea typeface="Times New Roman"/>
              <a:cs typeface="Times New Roman"/>
              <a:sym typeface="Times New Roman"/>
            </a:endParaRPr>
          </a:p>
          <a:p>
            <a:pPr indent="-127000" lvl="0" marL="0" rtl="0" algn="just">
              <a:lnSpc>
                <a:spcPct val="150000"/>
              </a:lnSpc>
              <a:spcBef>
                <a:spcPts val="0"/>
              </a:spcBef>
              <a:spcAft>
                <a:spcPts val="0"/>
              </a:spcAft>
              <a:buSzPct val="100000"/>
              <a:buFont typeface="Times New Roman"/>
              <a:buChar char="●"/>
            </a:pPr>
            <a:r>
              <a:rPr lang="en-GB" sz="8000">
                <a:solidFill>
                  <a:schemeClr val="dk1"/>
                </a:solidFill>
                <a:latin typeface="Times New Roman"/>
                <a:ea typeface="Times New Roman"/>
                <a:cs typeface="Times New Roman"/>
                <a:sym typeface="Times New Roman"/>
              </a:rPr>
              <a:t>Automated Billing: Cart maintains a live total for fast and easy checkout.</a:t>
            </a:r>
            <a:endParaRPr sz="8000">
              <a:solidFill>
                <a:schemeClr val="dk1"/>
              </a:solidFill>
              <a:latin typeface="Times New Roman"/>
              <a:ea typeface="Times New Roman"/>
              <a:cs typeface="Times New Roman"/>
              <a:sym typeface="Times New Roman"/>
            </a:endParaRPr>
          </a:p>
          <a:p>
            <a:pPr indent="-127000" lvl="0" marL="0" rtl="0" algn="just">
              <a:lnSpc>
                <a:spcPct val="150000"/>
              </a:lnSpc>
              <a:spcBef>
                <a:spcPts val="0"/>
              </a:spcBef>
              <a:spcAft>
                <a:spcPts val="0"/>
              </a:spcAft>
              <a:buSzPct val="100000"/>
              <a:buFont typeface="Times New Roman"/>
              <a:buChar char="●"/>
            </a:pPr>
            <a:r>
              <a:rPr lang="en-GB" sz="8000">
                <a:solidFill>
                  <a:schemeClr val="dk1"/>
                </a:solidFill>
                <a:latin typeface="Times New Roman"/>
                <a:ea typeface="Times New Roman"/>
                <a:cs typeface="Times New Roman"/>
                <a:sym typeface="Times New Roman"/>
              </a:rPr>
              <a:t>No Manual Scanning: Eliminates manual barcode scanning, reducing cashier workload and wait times.</a:t>
            </a:r>
            <a:endParaRPr sz="8000">
              <a:solidFill>
                <a:schemeClr val="dk1"/>
              </a:solidFill>
              <a:latin typeface="Times New Roman"/>
              <a:ea typeface="Times New Roman"/>
              <a:cs typeface="Times New Roman"/>
              <a:sym typeface="Times New Roman"/>
            </a:endParaRPr>
          </a:p>
          <a:p>
            <a:pPr indent="0" lvl="0" marL="457200" marR="0" rtl="0" algn="l">
              <a:lnSpc>
                <a:spcPct val="150000"/>
              </a:lnSpc>
              <a:spcBef>
                <a:spcPts val="0"/>
              </a:spcBef>
              <a:spcAft>
                <a:spcPts val="0"/>
              </a:spcAft>
              <a:buSzPct val="280000"/>
              <a:buNone/>
            </a:pPr>
            <a:r>
              <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126" name="Google Shape;126;p19"/>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27" name="Google Shape;127;p19"/>
          <p:cNvSpPr/>
          <p:nvPr/>
        </p:nvSpPr>
        <p:spPr>
          <a:xfrm>
            <a:off x="626040" y="4678560"/>
            <a:ext cx="864684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a:t>
            </a: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idx="1" type="subTitle"/>
          </p:nvPr>
        </p:nvSpPr>
        <p:spPr>
          <a:xfrm>
            <a:off x="358560" y="1132200"/>
            <a:ext cx="8520120" cy="360072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SzPts val="1400"/>
              <a:buNone/>
            </a:pPr>
            <a:r>
              <a:rPr b="1" i="0" lang="en-GB" sz="2180" u="none" cap="none" strike="noStrike">
                <a:solidFill>
                  <a:schemeClr val="dk1"/>
                </a:solidFill>
                <a:latin typeface="Times New Roman"/>
                <a:ea typeface="Times New Roman"/>
                <a:cs typeface="Times New Roman"/>
                <a:sym typeface="Times New Roman"/>
              </a:rPr>
              <a:t>ADVANTAGES</a:t>
            </a:r>
            <a:endParaRPr b="0" i="0" sz="2180" u="none" cap="none" strike="noStrike">
              <a:solidFill>
                <a:srgbClr val="000000"/>
              </a:solidFill>
              <a:latin typeface="Arial"/>
              <a:ea typeface="Arial"/>
              <a:cs typeface="Arial"/>
              <a:sym typeface="Arial"/>
            </a:endParaRPr>
          </a:p>
          <a:p>
            <a:pPr indent="0" lvl="0" marL="914400" marR="0" rtl="0" algn="l">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355600" lvl="0" marL="457200" marR="0" rtl="0" algn="just">
              <a:lnSpc>
                <a:spcPct val="110000"/>
              </a:lnSpc>
              <a:spcBef>
                <a:spcPts val="1190"/>
              </a:spcBef>
              <a:spcAft>
                <a:spcPts val="0"/>
              </a:spcAft>
              <a:buClr>
                <a:srgbClr val="000000"/>
              </a:buClr>
              <a:buSzPts val="2000"/>
              <a:buFont typeface="Times New Roman"/>
              <a:buChar char="●"/>
            </a:pPr>
            <a:r>
              <a:rPr b="0" i="0" lang="en-GB" sz="2000" u="none" cap="none" strike="noStrike">
                <a:solidFill>
                  <a:srgbClr val="1A1A1A"/>
                </a:solidFill>
                <a:highlight>
                  <a:srgbClr val="FFFFFF"/>
                </a:highlight>
                <a:latin typeface="Times New Roman"/>
                <a:ea typeface="Times New Roman"/>
                <a:cs typeface="Times New Roman"/>
                <a:sym typeface="Times New Roman"/>
              </a:rPr>
              <a:t>Reduced Checkout Stress</a:t>
            </a:r>
            <a:endParaRPr sz="2000">
              <a:solidFill>
                <a:srgbClr val="1A1A1A"/>
              </a:solidFill>
              <a:highlight>
                <a:srgbClr val="FFFFFF"/>
              </a:highlight>
              <a:latin typeface="Times New Roman"/>
              <a:ea typeface="Times New Roman"/>
              <a:cs typeface="Times New Roman"/>
              <a:sym typeface="Times New Roman"/>
            </a:endParaRPr>
          </a:p>
          <a:p>
            <a:pPr indent="-355600" lvl="0" marL="457200" marR="0" rtl="0" algn="just">
              <a:lnSpc>
                <a:spcPct val="110000"/>
              </a:lnSpc>
              <a:spcBef>
                <a:spcPts val="1190"/>
              </a:spcBef>
              <a:spcAft>
                <a:spcPts val="0"/>
              </a:spcAft>
              <a:buClr>
                <a:srgbClr val="000000"/>
              </a:buClr>
              <a:buSzPts val="2000"/>
              <a:buFont typeface="Times New Roman"/>
              <a:buChar char="●"/>
            </a:pPr>
            <a:r>
              <a:rPr b="0" i="0" lang="en-GB" sz="2000" u="none" cap="none" strike="noStrike">
                <a:solidFill>
                  <a:srgbClr val="1A1A1A"/>
                </a:solidFill>
                <a:highlight>
                  <a:srgbClr val="FFFFFF"/>
                </a:highlight>
                <a:latin typeface="Times New Roman"/>
                <a:ea typeface="Times New Roman"/>
                <a:cs typeface="Times New Roman"/>
                <a:sym typeface="Times New Roman"/>
              </a:rPr>
              <a:t>Efficient Multi-Item Scanning </a:t>
            </a:r>
            <a:endParaRPr sz="2000">
              <a:solidFill>
                <a:srgbClr val="1A1A1A"/>
              </a:solidFill>
              <a:highlight>
                <a:srgbClr val="FFFFFF"/>
              </a:highlight>
              <a:latin typeface="Times New Roman"/>
              <a:ea typeface="Times New Roman"/>
              <a:cs typeface="Times New Roman"/>
              <a:sym typeface="Times New Roman"/>
            </a:endParaRPr>
          </a:p>
          <a:p>
            <a:pPr indent="-355600" lvl="0" marL="457200" marR="0" rtl="0" algn="just">
              <a:lnSpc>
                <a:spcPct val="110000"/>
              </a:lnSpc>
              <a:spcBef>
                <a:spcPts val="1190"/>
              </a:spcBef>
              <a:spcAft>
                <a:spcPts val="0"/>
              </a:spcAft>
              <a:buClr>
                <a:srgbClr val="000000"/>
              </a:buClr>
              <a:buSzPts val="2000"/>
              <a:buFont typeface="Times New Roman"/>
              <a:buChar char="●"/>
            </a:pPr>
            <a:r>
              <a:rPr b="0" i="0" lang="en-GB" sz="2000" u="none" cap="none" strike="noStrike">
                <a:solidFill>
                  <a:srgbClr val="1A1A1A"/>
                </a:solidFill>
                <a:highlight>
                  <a:srgbClr val="FFFFFF"/>
                </a:highlight>
                <a:latin typeface="Times New Roman"/>
                <a:ea typeface="Times New Roman"/>
                <a:cs typeface="Times New Roman"/>
                <a:sym typeface="Times New Roman"/>
              </a:rPr>
              <a:t>Increased Customer Satisfaction </a:t>
            </a:r>
            <a:endParaRPr b="0" i="0" sz="2000" u="none" cap="none" strike="noStrike">
              <a:solidFill>
                <a:srgbClr val="000000"/>
              </a:solidFill>
              <a:latin typeface="Arial"/>
              <a:ea typeface="Arial"/>
              <a:cs typeface="Arial"/>
              <a:sym typeface="Arial"/>
            </a:endParaRPr>
          </a:p>
          <a:p>
            <a:pPr indent="0" lvl="0" marL="914400" marR="0" rtl="0" algn="just">
              <a:lnSpc>
                <a:spcPct val="100000"/>
              </a:lnSpc>
              <a:spcBef>
                <a:spcPts val="1995"/>
              </a:spcBef>
              <a:spcAft>
                <a:spcPts val="0"/>
              </a:spcAft>
              <a:buSzPts val="1400"/>
              <a:buNone/>
            </a:pPr>
            <a:r>
              <a:t/>
            </a:r>
            <a:endParaRPr b="0" i="0" sz="2000" u="none" cap="none" strike="noStrike">
              <a:solidFill>
                <a:srgbClr val="000000"/>
              </a:solidFill>
              <a:latin typeface="Arial"/>
              <a:ea typeface="Arial"/>
              <a:cs typeface="Arial"/>
              <a:sym typeface="Arial"/>
            </a:endParaRPr>
          </a:p>
        </p:txBody>
      </p:sp>
      <p:pic>
        <p:nvPicPr>
          <p:cNvPr id="133" name="Google Shape;133;p20"/>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34" name="Google Shape;134;p20"/>
          <p:cNvSpPr/>
          <p:nvPr/>
        </p:nvSpPr>
        <p:spPr>
          <a:xfrm>
            <a:off x="1069920" y="4807800"/>
            <a:ext cx="763128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1" type="subTitle"/>
          </p:nvPr>
        </p:nvSpPr>
        <p:spPr>
          <a:xfrm>
            <a:off x="358560" y="1132200"/>
            <a:ext cx="8538120" cy="3592800"/>
          </a:xfrm>
          <a:prstGeom prst="rect">
            <a:avLst/>
          </a:prstGeom>
          <a:noFill/>
          <a:ln>
            <a:noFill/>
          </a:ln>
        </p:spPr>
        <p:txBody>
          <a:bodyPr anchorCtr="0" anchor="t" bIns="91425" lIns="91425" spcFirstLastPara="1" rIns="91425" wrap="square" tIns="91425">
            <a:normAutofit fontScale="92500" lnSpcReduction="20000"/>
          </a:bodyPr>
          <a:lstStyle/>
          <a:p>
            <a:pPr indent="0" lvl="0" marL="0" marR="0" rtl="0" algn="ctr">
              <a:lnSpc>
                <a:spcPct val="80000"/>
              </a:lnSpc>
              <a:spcBef>
                <a:spcPts val="0"/>
              </a:spcBef>
              <a:spcAft>
                <a:spcPts val="0"/>
              </a:spcAft>
              <a:buSzPct val="66000"/>
              <a:buNone/>
            </a:pPr>
            <a:r>
              <a:rPr b="1" i="0" lang="en-GB" sz="2480" u="none" cap="none" strike="noStrike">
                <a:solidFill>
                  <a:schemeClr val="dk1"/>
                </a:solidFill>
                <a:latin typeface="Times New Roman"/>
                <a:ea typeface="Times New Roman"/>
                <a:cs typeface="Times New Roman"/>
                <a:sym typeface="Times New Roman"/>
              </a:rPr>
              <a:t>METHODOLOGY</a:t>
            </a:r>
            <a:endParaRPr i="0" sz="2480" u="none" cap="none" strike="noStrike">
              <a:solidFill>
                <a:srgbClr val="000000"/>
              </a:solidFill>
              <a:latin typeface="Times New Roman"/>
              <a:ea typeface="Times New Roman"/>
              <a:cs typeface="Times New Roman"/>
              <a:sym typeface="Times New Roman"/>
            </a:endParaRPr>
          </a:p>
          <a:p>
            <a:pPr indent="0" lvl="0" marL="0" marR="0" rtl="0" algn="just">
              <a:lnSpc>
                <a:spcPct val="110000"/>
              </a:lnSpc>
              <a:spcBef>
                <a:spcPts val="0"/>
              </a:spcBef>
              <a:spcAft>
                <a:spcPts val="0"/>
              </a:spcAft>
              <a:buSzPct val="48000"/>
              <a:buNone/>
            </a:pPr>
            <a:r>
              <a:t/>
            </a:r>
            <a:endParaRPr i="0" sz="3400" u="none" cap="none" strike="noStrike">
              <a:solidFill>
                <a:srgbClr val="000000"/>
              </a:solidFill>
              <a:latin typeface="Times New Roman"/>
              <a:ea typeface="Times New Roman"/>
              <a:cs typeface="Times New Roman"/>
              <a:sym typeface="Times New Roman"/>
            </a:endParaRPr>
          </a:p>
          <a:p>
            <a:pPr indent="0" lvl="0" marL="0" rtl="0" algn="just">
              <a:lnSpc>
                <a:spcPct val="80000"/>
              </a:lnSpc>
              <a:spcBef>
                <a:spcPts val="1000"/>
              </a:spcBef>
              <a:spcAft>
                <a:spcPts val="0"/>
              </a:spcAft>
              <a:buSzPct val="55000"/>
              <a:buNone/>
            </a:pPr>
            <a:r>
              <a:rPr b="1" lang="en-GB" sz="2000">
                <a:latin typeface="Times New Roman"/>
                <a:ea typeface="Times New Roman"/>
                <a:cs typeface="Times New Roman"/>
                <a:sym typeface="Times New Roman"/>
              </a:rPr>
              <a:t>Module 1: RFID-Based Product Identification Module</a:t>
            </a:r>
            <a:endParaRPr b="1" sz="2000">
              <a:latin typeface="Times New Roman"/>
              <a:ea typeface="Times New Roman"/>
              <a:cs typeface="Times New Roman"/>
              <a:sym typeface="Times New Roman"/>
            </a:endParaRPr>
          </a:p>
          <a:p>
            <a:pPr indent="0" lvl="0" marL="0" rtl="0" algn="just">
              <a:lnSpc>
                <a:spcPct val="80000"/>
              </a:lnSpc>
              <a:spcBef>
                <a:spcPts val="1000"/>
              </a:spcBef>
              <a:spcAft>
                <a:spcPts val="0"/>
              </a:spcAft>
              <a:buClr>
                <a:schemeClr val="dk1"/>
              </a:buClr>
              <a:buSzPct val="55000"/>
              <a:buFont typeface="Arial"/>
              <a:buNone/>
            </a:pPr>
            <a:r>
              <a:rPr lang="en-GB" sz="2000">
                <a:latin typeface="Times New Roman"/>
                <a:ea typeface="Times New Roman"/>
                <a:cs typeface="Times New Roman"/>
                <a:sym typeface="Times New Roman"/>
              </a:rPr>
              <a:t>Objective: Automatically detect and identify products added to the cart</a:t>
            </a:r>
            <a:endParaRPr sz="2000">
              <a:latin typeface="Times New Roman"/>
              <a:ea typeface="Times New Roman"/>
              <a:cs typeface="Times New Roman"/>
              <a:sym typeface="Times New Roman"/>
            </a:endParaRPr>
          </a:p>
          <a:p>
            <a:pPr indent="0" lvl="0" marL="0" rtl="0" algn="just">
              <a:lnSpc>
                <a:spcPct val="80000"/>
              </a:lnSpc>
              <a:spcBef>
                <a:spcPts val="1000"/>
              </a:spcBef>
              <a:spcAft>
                <a:spcPts val="0"/>
              </a:spcAft>
              <a:buClr>
                <a:schemeClr val="dk1"/>
              </a:buClr>
              <a:buSzPct val="55000"/>
              <a:buFont typeface="Arial"/>
              <a:buNone/>
            </a:pPr>
            <a:r>
              <a:rPr lang="en-GB" sz="2000">
                <a:latin typeface="Times New Roman"/>
                <a:ea typeface="Times New Roman"/>
                <a:cs typeface="Times New Roman"/>
                <a:sym typeface="Times New Roman"/>
              </a:rPr>
              <a:t>Components: RFID Tags → </a:t>
            </a:r>
            <a:r>
              <a:rPr lang="en-GB" sz="2000">
                <a:solidFill>
                  <a:schemeClr val="dk1"/>
                </a:solidFill>
                <a:latin typeface="Times New Roman"/>
                <a:ea typeface="Times New Roman"/>
                <a:cs typeface="Times New Roman"/>
                <a:sym typeface="Times New Roman"/>
              </a:rPr>
              <a:t>RFID Reader → </a:t>
            </a:r>
            <a:r>
              <a:rPr lang="en-GB" sz="2000">
                <a:latin typeface="Times New Roman"/>
                <a:ea typeface="Times New Roman"/>
                <a:cs typeface="Times New Roman"/>
                <a:sym typeface="Times New Roman"/>
              </a:rPr>
              <a:t>Microcontroller</a:t>
            </a:r>
            <a:endParaRPr sz="2000">
              <a:latin typeface="Times New Roman"/>
              <a:ea typeface="Times New Roman"/>
              <a:cs typeface="Times New Roman"/>
              <a:sym typeface="Times New Roman"/>
            </a:endParaRPr>
          </a:p>
          <a:p>
            <a:pPr indent="0" lvl="0" marL="0" marR="0" rtl="0" algn="just">
              <a:lnSpc>
                <a:spcPct val="110000"/>
              </a:lnSpc>
              <a:spcBef>
                <a:spcPts val="1000"/>
              </a:spcBef>
              <a:spcAft>
                <a:spcPts val="0"/>
              </a:spcAft>
              <a:buSzPct val="82000"/>
              <a:buNone/>
            </a:pPr>
            <a:r>
              <a:t/>
            </a:r>
            <a:endParaRPr sz="20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ct val="55000"/>
              <a:buFont typeface="Arial"/>
              <a:buNone/>
            </a:pPr>
            <a:r>
              <a:rPr b="1" lang="en-GB" sz="2000">
                <a:latin typeface="Times New Roman"/>
                <a:ea typeface="Times New Roman"/>
                <a:cs typeface="Times New Roman"/>
                <a:sym typeface="Times New Roman"/>
              </a:rPr>
              <a:t>Module 2. Billing &amp; Pricing Module</a:t>
            </a:r>
            <a:endParaRPr b="1" sz="20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ct val="55000"/>
              <a:buFont typeface="Arial"/>
              <a:buNone/>
            </a:pPr>
            <a:r>
              <a:rPr lang="en-GB" sz="2000">
                <a:latin typeface="Times New Roman"/>
                <a:ea typeface="Times New Roman"/>
                <a:cs typeface="Times New Roman"/>
                <a:sym typeface="Times New Roman"/>
              </a:rPr>
              <a:t>Objective: Maintain an updated total bill as products are added/removed.</a:t>
            </a:r>
            <a:endParaRPr sz="20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ct val="55000"/>
              <a:buFont typeface="Arial"/>
              <a:buNone/>
            </a:pPr>
            <a:r>
              <a:rPr lang="en-GB" sz="2000">
                <a:latin typeface="Times New Roman"/>
                <a:ea typeface="Times New Roman"/>
                <a:cs typeface="Times New Roman"/>
                <a:sym typeface="Times New Roman"/>
              </a:rPr>
              <a:t>Components: Microcontroller → </a:t>
            </a:r>
            <a:r>
              <a:rPr lang="en-GB" sz="2000">
                <a:solidFill>
                  <a:schemeClr val="dk1"/>
                </a:solidFill>
                <a:latin typeface="Times New Roman"/>
                <a:ea typeface="Times New Roman"/>
                <a:cs typeface="Times New Roman"/>
                <a:sym typeface="Times New Roman"/>
              </a:rPr>
              <a:t>Display Unit</a:t>
            </a:r>
            <a:endParaRPr sz="2000">
              <a:latin typeface="Times New Roman"/>
              <a:ea typeface="Times New Roman"/>
              <a:cs typeface="Times New Roman"/>
              <a:sym typeface="Times New Roman"/>
            </a:endParaRPr>
          </a:p>
          <a:p>
            <a:pPr indent="0" lvl="0" marL="914400" marR="0" rtl="0" algn="just">
              <a:lnSpc>
                <a:spcPct val="100000"/>
              </a:lnSpc>
              <a:spcBef>
                <a:spcPts val="1000"/>
              </a:spcBef>
              <a:spcAft>
                <a:spcPts val="0"/>
              </a:spcAft>
              <a:buSzPct val="82000"/>
              <a:buNone/>
            </a:pPr>
            <a:r>
              <a:t/>
            </a:r>
            <a:endParaRPr sz="2000">
              <a:latin typeface="Times New Roman"/>
              <a:ea typeface="Times New Roman"/>
              <a:cs typeface="Times New Roman"/>
              <a:sym typeface="Times New Roman"/>
            </a:endParaRPr>
          </a:p>
        </p:txBody>
      </p:sp>
      <p:pic>
        <p:nvPicPr>
          <p:cNvPr id="140" name="Google Shape;140;p21"/>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41" name="Google Shape;141;p21"/>
          <p:cNvSpPr/>
          <p:nvPr/>
        </p:nvSpPr>
        <p:spPr>
          <a:xfrm>
            <a:off x="1069920" y="4807800"/>
            <a:ext cx="763128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idx="1" type="subTitle"/>
          </p:nvPr>
        </p:nvSpPr>
        <p:spPr>
          <a:xfrm>
            <a:off x="358560" y="1061640"/>
            <a:ext cx="8520120" cy="380664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SzPts val="1400"/>
              <a:buNone/>
            </a:pPr>
            <a:r>
              <a:rPr b="1" i="0" lang="en-GB" sz="2200" u="none" cap="none" strike="noStrike">
                <a:solidFill>
                  <a:schemeClr val="dk1"/>
                </a:solidFill>
                <a:latin typeface="Times New Roman"/>
                <a:ea typeface="Times New Roman"/>
                <a:cs typeface="Times New Roman"/>
                <a:sym typeface="Times New Roman"/>
              </a:rPr>
              <a:t>                                         BLOCK DIAGRAM</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p:txBody>
      </p:sp>
      <p:pic>
        <p:nvPicPr>
          <p:cNvPr id="147" name="Google Shape;147;p22"/>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48" name="Google Shape;148;p22"/>
          <p:cNvSpPr/>
          <p:nvPr/>
        </p:nvSpPr>
        <p:spPr>
          <a:xfrm>
            <a:off x="469800" y="4809240"/>
            <a:ext cx="883548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a:t>
            </a: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15</a:t>
            </a:r>
            <a:endParaRPr b="0" i="0" sz="1400" u="none" cap="none" strike="noStrike">
              <a:solidFill>
                <a:srgbClr val="000000"/>
              </a:solidFill>
              <a:latin typeface="Arial"/>
              <a:ea typeface="Arial"/>
              <a:cs typeface="Arial"/>
              <a:sym typeface="Arial"/>
            </a:endParaRPr>
          </a:p>
        </p:txBody>
      </p:sp>
      <p:pic>
        <p:nvPicPr>
          <p:cNvPr id="149" name="Google Shape;149;p22"/>
          <p:cNvPicPr preferRelativeResize="0"/>
          <p:nvPr/>
        </p:nvPicPr>
        <p:blipFill rotWithShape="1">
          <a:blip r:embed="rId4">
            <a:alphaModFix/>
          </a:blip>
          <a:srcRect b="0" l="0" r="0" t="0"/>
          <a:stretch/>
        </p:blipFill>
        <p:spPr>
          <a:xfrm>
            <a:off x="1923480" y="1440000"/>
            <a:ext cx="4916520" cy="3240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idx="1" type="subTitle"/>
          </p:nvPr>
        </p:nvSpPr>
        <p:spPr>
          <a:xfrm>
            <a:off x="358560" y="1061640"/>
            <a:ext cx="8520000" cy="380670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SzPts val="1400"/>
              <a:buNone/>
            </a:pPr>
            <a:r>
              <a:rPr b="1" i="0" lang="en-GB" sz="2200" u="none" cap="none" strike="noStrike">
                <a:solidFill>
                  <a:schemeClr val="dk1"/>
                </a:solidFill>
                <a:latin typeface="Times New Roman"/>
                <a:ea typeface="Times New Roman"/>
                <a:cs typeface="Times New Roman"/>
                <a:sym typeface="Times New Roman"/>
              </a:rPr>
              <a:t> </a:t>
            </a:r>
            <a:r>
              <a:rPr b="1" lang="en-GB" sz="2200">
                <a:solidFill>
                  <a:schemeClr val="dk1"/>
                </a:solidFill>
                <a:latin typeface="Times New Roman"/>
                <a:ea typeface="Times New Roman"/>
                <a:cs typeface="Times New Roman"/>
                <a:sym typeface="Times New Roman"/>
              </a:rPr>
              <a:t>LEVEL 0 BLOCK DIAGRAM</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p:txBody>
      </p:sp>
      <p:pic>
        <p:nvPicPr>
          <p:cNvPr id="155" name="Google Shape;155;p23"/>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56" name="Google Shape;156;p23"/>
          <p:cNvSpPr/>
          <p:nvPr/>
        </p:nvSpPr>
        <p:spPr>
          <a:xfrm>
            <a:off x="469800" y="4809240"/>
            <a:ext cx="88356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16</a:t>
            </a:r>
            <a:endParaRPr b="0" i="0" sz="1400" u="none" cap="none" strike="noStrike">
              <a:solidFill>
                <a:srgbClr val="000000"/>
              </a:solidFill>
              <a:latin typeface="Arial"/>
              <a:ea typeface="Arial"/>
              <a:cs typeface="Arial"/>
              <a:sym typeface="Arial"/>
            </a:endParaRPr>
          </a:p>
        </p:txBody>
      </p:sp>
      <p:pic>
        <p:nvPicPr>
          <p:cNvPr id="157" name="Google Shape;157;p23" title="Sprint Planning.jpg"/>
          <p:cNvPicPr preferRelativeResize="0"/>
          <p:nvPr/>
        </p:nvPicPr>
        <p:blipFill rotWithShape="1">
          <a:blip r:embed="rId4">
            <a:alphaModFix/>
          </a:blip>
          <a:srcRect b="13381" l="37775" r="17729" t="21151"/>
          <a:stretch/>
        </p:blipFill>
        <p:spPr>
          <a:xfrm>
            <a:off x="3108200" y="1468025"/>
            <a:ext cx="3747199" cy="3675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idx="1" type="subTitle"/>
          </p:nvPr>
        </p:nvSpPr>
        <p:spPr>
          <a:xfrm>
            <a:off x="358560" y="1061640"/>
            <a:ext cx="8520000" cy="380670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SzPts val="1400"/>
              <a:buNone/>
            </a:pPr>
            <a:r>
              <a:rPr b="1" lang="en-GB" sz="2200">
                <a:solidFill>
                  <a:schemeClr val="dk1"/>
                </a:solidFill>
                <a:latin typeface="Times New Roman"/>
                <a:ea typeface="Times New Roman"/>
                <a:cs typeface="Times New Roman"/>
                <a:sym typeface="Times New Roman"/>
              </a:rPr>
              <a:t>LEVEL 1 BLOCK DIAGRAM</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p:txBody>
      </p:sp>
      <p:pic>
        <p:nvPicPr>
          <p:cNvPr id="163" name="Google Shape;163;p24"/>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64" name="Google Shape;164;p24"/>
          <p:cNvSpPr/>
          <p:nvPr/>
        </p:nvSpPr>
        <p:spPr>
          <a:xfrm>
            <a:off x="469800" y="4809240"/>
            <a:ext cx="88356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17</a:t>
            </a:r>
            <a:endParaRPr b="0" i="0" sz="1400" u="none" cap="none" strike="noStrike">
              <a:solidFill>
                <a:srgbClr val="000000"/>
              </a:solidFill>
              <a:latin typeface="Arial"/>
              <a:ea typeface="Arial"/>
              <a:cs typeface="Arial"/>
              <a:sym typeface="Arial"/>
            </a:endParaRPr>
          </a:p>
        </p:txBody>
      </p:sp>
      <p:pic>
        <p:nvPicPr>
          <p:cNvPr id="165" name="Google Shape;165;p24" title="Sprint Planning (3).jpg"/>
          <p:cNvPicPr preferRelativeResize="0"/>
          <p:nvPr/>
        </p:nvPicPr>
        <p:blipFill rotWithShape="1">
          <a:blip r:embed="rId4">
            <a:alphaModFix/>
          </a:blip>
          <a:srcRect b="13214" l="2632" r="4343" t="10180"/>
          <a:stretch/>
        </p:blipFill>
        <p:spPr>
          <a:xfrm>
            <a:off x="442750" y="1740450"/>
            <a:ext cx="8258501" cy="28156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idx="1" type="subTitle"/>
          </p:nvPr>
        </p:nvSpPr>
        <p:spPr>
          <a:xfrm>
            <a:off x="358560" y="1061640"/>
            <a:ext cx="8520000" cy="380670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SzPts val="1400"/>
              <a:buNone/>
            </a:pPr>
            <a:r>
              <a:rPr b="1" lang="en-GB" sz="2200">
                <a:solidFill>
                  <a:schemeClr val="dk1"/>
                </a:solidFill>
                <a:latin typeface="Times New Roman"/>
                <a:ea typeface="Times New Roman"/>
                <a:cs typeface="Times New Roman"/>
                <a:sym typeface="Times New Roman"/>
              </a:rPr>
              <a:t>LEVEL 2 BLOCK DIAGRAM</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p:txBody>
      </p:sp>
      <p:pic>
        <p:nvPicPr>
          <p:cNvPr id="171" name="Google Shape;171;p25"/>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72" name="Google Shape;172;p25"/>
          <p:cNvSpPr/>
          <p:nvPr/>
        </p:nvSpPr>
        <p:spPr>
          <a:xfrm>
            <a:off x="469800" y="4809240"/>
            <a:ext cx="88356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18</a:t>
            </a:r>
            <a:endParaRPr b="0" i="0" sz="1400" u="none" cap="none" strike="noStrike">
              <a:solidFill>
                <a:srgbClr val="000000"/>
              </a:solidFill>
              <a:latin typeface="Arial"/>
              <a:ea typeface="Arial"/>
              <a:cs typeface="Arial"/>
              <a:sym typeface="Arial"/>
            </a:endParaRPr>
          </a:p>
        </p:txBody>
      </p:sp>
      <p:pic>
        <p:nvPicPr>
          <p:cNvPr id="173" name="Google Shape;173;p25" title="Sprint Planning (5).jpg"/>
          <p:cNvPicPr preferRelativeResize="0"/>
          <p:nvPr/>
        </p:nvPicPr>
        <p:blipFill rotWithShape="1">
          <a:blip r:embed="rId4">
            <a:alphaModFix/>
          </a:blip>
          <a:srcRect b="12458" l="1969" r="6000" t="7212"/>
          <a:stretch/>
        </p:blipFill>
        <p:spPr>
          <a:xfrm>
            <a:off x="101163" y="2051150"/>
            <a:ext cx="8941327" cy="17682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idx="1" type="subTitle"/>
          </p:nvPr>
        </p:nvSpPr>
        <p:spPr>
          <a:xfrm>
            <a:off x="154440" y="1132200"/>
            <a:ext cx="8724600" cy="359136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just">
              <a:lnSpc>
                <a:spcPct val="80000"/>
              </a:lnSpc>
              <a:spcBef>
                <a:spcPts val="0"/>
              </a:spcBef>
              <a:spcAft>
                <a:spcPts val="0"/>
              </a:spcAft>
              <a:buSzPct val="255000"/>
              <a:buNone/>
            </a:pPr>
            <a:r>
              <a:rPr b="1" i="0" lang="en-GB" sz="2200" u="none" cap="none" strike="noStrike">
                <a:solidFill>
                  <a:schemeClr val="dk1"/>
                </a:solidFill>
                <a:latin typeface="Times New Roman"/>
                <a:ea typeface="Times New Roman"/>
                <a:cs typeface="Times New Roman"/>
                <a:sym typeface="Times New Roman"/>
              </a:rPr>
              <a:t>                                                                                                                            </a:t>
            </a:r>
            <a:r>
              <a:rPr b="1" i="0" lang="en-GB" sz="4900" u="none" cap="none" strike="noStrike">
                <a:solidFill>
                  <a:schemeClr val="dk1"/>
                </a:solidFill>
                <a:latin typeface="Times New Roman"/>
                <a:ea typeface="Times New Roman"/>
                <a:cs typeface="Times New Roman"/>
                <a:sym typeface="Times New Roman"/>
              </a:rPr>
              <a:t>                      </a:t>
            </a:r>
            <a:r>
              <a:rPr b="1" i="0" lang="en-GB" sz="6490" u="none" cap="none" strike="noStrike">
                <a:solidFill>
                  <a:schemeClr val="dk1"/>
                </a:solidFill>
                <a:latin typeface="Times New Roman"/>
                <a:ea typeface="Times New Roman"/>
                <a:cs typeface="Times New Roman"/>
                <a:sym typeface="Times New Roman"/>
              </a:rPr>
              <a:t> </a:t>
            </a:r>
            <a:r>
              <a:rPr b="1" i="0" lang="en-GB" sz="8800" u="none" cap="none" strike="noStrike">
                <a:solidFill>
                  <a:schemeClr val="dk1"/>
                </a:solidFill>
                <a:latin typeface="Times New Roman"/>
                <a:ea typeface="Times New Roman"/>
                <a:cs typeface="Times New Roman"/>
                <a:sym typeface="Times New Roman"/>
              </a:rPr>
              <a:t>RESOURCES NEEDED</a:t>
            </a:r>
            <a:endParaRPr b="0" i="0" sz="649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ct val="78000"/>
              <a:buNone/>
            </a:pPr>
            <a:r>
              <a:t/>
            </a:r>
            <a:endParaRPr b="0" i="0" sz="7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ct val="78000"/>
              <a:buNone/>
            </a:pPr>
            <a:r>
              <a:rPr b="1" i="0" lang="en-GB" sz="7200" u="none" cap="none" strike="noStrike">
                <a:solidFill>
                  <a:schemeClr val="dk1"/>
                </a:solidFill>
                <a:latin typeface="Times New Roman"/>
                <a:ea typeface="Times New Roman"/>
                <a:cs typeface="Times New Roman"/>
                <a:sym typeface="Times New Roman"/>
              </a:rPr>
              <a:t>SOFTWARE REQUIREMENTS</a:t>
            </a:r>
            <a:r>
              <a:rPr b="1" i="0" lang="en-GB" sz="6400" u="none" cap="none" strike="noStrike">
                <a:solidFill>
                  <a:schemeClr val="dk1"/>
                </a:solidFill>
                <a:latin typeface="Times New Roman"/>
                <a:ea typeface="Times New Roman"/>
                <a:cs typeface="Times New Roman"/>
                <a:sym typeface="Times New Roman"/>
              </a:rPr>
              <a:t>:</a:t>
            </a:r>
            <a:endParaRPr b="0" i="0" sz="6400" u="none" cap="none" strike="noStrike">
              <a:solidFill>
                <a:srgbClr val="000000"/>
              </a:solidFill>
              <a:latin typeface="Arial"/>
              <a:ea typeface="Arial"/>
              <a:cs typeface="Arial"/>
              <a:sym typeface="Arial"/>
            </a:endParaRPr>
          </a:p>
          <a:p>
            <a:pPr indent="-330200" lvl="0" marL="457200" rtl="0" algn="l">
              <a:lnSpc>
                <a:spcPct val="115000"/>
              </a:lnSpc>
              <a:spcBef>
                <a:spcPts val="0"/>
              </a:spcBef>
              <a:spcAft>
                <a:spcPts val="0"/>
              </a:spcAft>
              <a:buClr>
                <a:schemeClr val="dk1"/>
              </a:buClr>
              <a:buSzPct val="100000"/>
              <a:buFont typeface="Times New Roman"/>
              <a:buChar char="●"/>
            </a:pPr>
            <a:r>
              <a:rPr lang="en-GB" sz="6400">
                <a:solidFill>
                  <a:schemeClr val="dk1"/>
                </a:solidFill>
                <a:latin typeface="Times New Roman"/>
                <a:ea typeface="Times New Roman"/>
                <a:cs typeface="Times New Roman"/>
                <a:sym typeface="Times New Roman"/>
              </a:rPr>
              <a:t>Arduino IDE</a:t>
            </a:r>
            <a:endParaRPr sz="64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88000"/>
              <a:buNone/>
            </a:pPr>
            <a:r>
              <a:t/>
            </a:r>
            <a:endParaRPr sz="6400">
              <a:solidFill>
                <a:schemeClr val="dk1"/>
              </a:solidFill>
              <a:latin typeface="Times New Roman"/>
              <a:ea typeface="Times New Roman"/>
              <a:cs typeface="Times New Roman"/>
              <a:sym typeface="Times New Roman"/>
            </a:endParaRPr>
          </a:p>
          <a:p>
            <a:pPr indent="0" lvl="0" marL="0" marR="0" rtl="0" algn="l">
              <a:lnSpc>
                <a:spcPct val="80000"/>
              </a:lnSpc>
              <a:spcBef>
                <a:spcPts val="1200"/>
              </a:spcBef>
              <a:spcAft>
                <a:spcPts val="0"/>
              </a:spcAft>
              <a:buSzPct val="255000"/>
              <a:buNone/>
            </a:pPr>
            <a:r>
              <a:rPr b="1" i="0" lang="en-GB" sz="2200" u="none" cap="none" strike="noStrike">
                <a:solidFill>
                  <a:schemeClr val="dk1"/>
                </a:solidFill>
                <a:latin typeface="Times New Roman"/>
                <a:ea typeface="Times New Roman"/>
                <a:cs typeface="Times New Roman"/>
                <a:sym typeface="Times New Roman"/>
              </a:rPr>
              <a:t>       </a:t>
            </a:r>
            <a:endParaRPr b="0" i="0" sz="2200" u="none" cap="none" strike="noStrike">
              <a:solidFill>
                <a:srgbClr val="000000"/>
              </a:solidFill>
              <a:latin typeface="Arial"/>
              <a:ea typeface="Arial"/>
              <a:cs typeface="Arial"/>
              <a:sym typeface="Arial"/>
            </a:endParaRPr>
          </a:p>
          <a:p>
            <a:pPr indent="0" lvl="0" marL="457200" marR="0" rtl="0" algn="l">
              <a:lnSpc>
                <a:spcPct val="80000"/>
              </a:lnSpc>
              <a:spcBef>
                <a:spcPts val="0"/>
              </a:spcBef>
              <a:spcAft>
                <a:spcPts val="0"/>
              </a:spcAft>
              <a:buSzPct val="2550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ct val="78000"/>
              <a:buNone/>
            </a:pPr>
            <a:r>
              <a:rPr b="1" i="0" lang="en-GB" sz="7200" u="none" cap="none" strike="noStrike">
                <a:solidFill>
                  <a:schemeClr val="dk1"/>
                </a:solidFill>
                <a:latin typeface="Times New Roman"/>
                <a:ea typeface="Times New Roman"/>
                <a:cs typeface="Times New Roman"/>
                <a:sym typeface="Times New Roman"/>
              </a:rPr>
              <a:t>HARDWARE REQUIREMENTS:</a:t>
            </a:r>
            <a:endParaRPr b="0" i="0" sz="7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ct val="78000"/>
              <a:buNone/>
            </a:pPr>
            <a:r>
              <a:t/>
            </a:r>
            <a:endParaRPr b="0" i="0" sz="7200" u="none" cap="none" strike="noStrike">
              <a:solidFill>
                <a:srgbClr val="000000"/>
              </a:solidFill>
              <a:latin typeface="Arial"/>
              <a:ea typeface="Arial"/>
              <a:cs typeface="Arial"/>
              <a:sym typeface="Arial"/>
            </a:endParaRPr>
          </a:p>
          <a:p>
            <a:pPr indent="-330200" lvl="0" marL="457200" rtl="0" algn="l">
              <a:lnSpc>
                <a:spcPct val="115000"/>
              </a:lnSpc>
              <a:spcBef>
                <a:spcPts val="0"/>
              </a:spcBef>
              <a:spcAft>
                <a:spcPts val="0"/>
              </a:spcAft>
              <a:buClr>
                <a:schemeClr val="dk1"/>
              </a:buClr>
              <a:buSzPct val="100000"/>
              <a:buFont typeface="Times New Roman"/>
              <a:buChar char="●"/>
            </a:pPr>
            <a:r>
              <a:rPr lang="en-GB" sz="6400">
                <a:solidFill>
                  <a:schemeClr val="dk1"/>
                </a:solidFill>
                <a:latin typeface="Times New Roman"/>
                <a:ea typeface="Times New Roman"/>
                <a:cs typeface="Times New Roman"/>
                <a:sym typeface="Times New Roman"/>
              </a:rPr>
              <a:t>RFID Reader (Mounted on the cart)</a:t>
            </a:r>
            <a:endParaRPr sz="64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ct val="100000"/>
              <a:buFont typeface="Times New Roman"/>
              <a:buChar char="●"/>
            </a:pPr>
            <a:r>
              <a:rPr lang="en-GB" sz="6400">
                <a:solidFill>
                  <a:schemeClr val="dk1"/>
                </a:solidFill>
                <a:latin typeface="Times New Roman"/>
                <a:ea typeface="Times New Roman"/>
                <a:cs typeface="Times New Roman"/>
                <a:sym typeface="Times New Roman"/>
              </a:rPr>
              <a:t>RFID Tags (Attached to products)</a:t>
            </a:r>
            <a:endParaRPr sz="64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ct val="100000"/>
              <a:buFont typeface="Times New Roman"/>
              <a:buChar char="●"/>
            </a:pPr>
            <a:r>
              <a:rPr lang="en-GB" sz="6400">
                <a:solidFill>
                  <a:schemeClr val="dk1"/>
                </a:solidFill>
                <a:latin typeface="Times New Roman"/>
                <a:ea typeface="Times New Roman"/>
                <a:cs typeface="Times New Roman"/>
                <a:sym typeface="Times New Roman"/>
              </a:rPr>
              <a:t>Microcontroller (Arduino)</a:t>
            </a:r>
            <a:endParaRPr sz="64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ct val="100000"/>
              <a:buFont typeface="Times New Roman"/>
              <a:buChar char="●"/>
            </a:pPr>
            <a:r>
              <a:rPr lang="en-GB" sz="6400">
                <a:solidFill>
                  <a:schemeClr val="dk1"/>
                </a:solidFill>
                <a:latin typeface="Times New Roman"/>
                <a:ea typeface="Times New Roman"/>
                <a:cs typeface="Times New Roman"/>
                <a:sym typeface="Times New Roman"/>
              </a:rPr>
              <a:t>Display Unit (LCD)</a:t>
            </a:r>
            <a:endParaRPr sz="64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ct val="100000"/>
              <a:buFont typeface="Times New Roman"/>
              <a:buChar char="●"/>
            </a:pPr>
            <a:r>
              <a:rPr lang="en-GB" sz="6400">
                <a:solidFill>
                  <a:schemeClr val="dk1"/>
                </a:solidFill>
                <a:latin typeface="Times New Roman"/>
                <a:ea typeface="Times New Roman"/>
                <a:cs typeface="Times New Roman"/>
                <a:sym typeface="Times New Roman"/>
              </a:rPr>
              <a:t>Power Supply(Rechargeable battery)</a:t>
            </a:r>
            <a:endParaRPr sz="6700"/>
          </a:p>
          <a:p>
            <a:pPr indent="0" lvl="0" marL="457200" marR="0" rtl="0" algn="l">
              <a:lnSpc>
                <a:spcPct val="80000"/>
              </a:lnSpc>
              <a:spcBef>
                <a:spcPts val="0"/>
              </a:spcBef>
              <a:spcAft>
                <a:spcPts val="0"/>
              </a:spcAft>
              <a:buSzPct val="102000"/>
              <a:buNone/>
            </a:pPr>
            <a:r>
              <a:t/>
            </a:r>
            <a:endParaRPr b="0" i="0" sz="5500" u="none" cap="none" strike="noStrike">
              <a:solidFill>
                <a:srgbClr val="000000"/>
              </a:solidFill>
              <a:latin typeface="Arial"/>
              <a:ea typeface="Arial"/>
              <a:cs typeface="Arial"/>
              <a:sym typeface="Arial"/>
            </a:endParaRPr>
          </a:p>
          <a:p>
            <a:pPr indent="0" lvl="0" marL="914400" marR="0" rtl="0" algn="l">
              <a:lnSpc>
                <a:spcPct val="80000"/>
              </a:lnSpc>
              <a:spcBef>
                <a:spcPts val="0"/>
              </a:spcBef>
              <a:spcAft>
                <a:spcPts val="0"/>
              </a:spcAft>
              <a:buSzPct val="80999"/>
              <a:buNone/>
            </a:pPr>
            <a:r>
              <a:t/>
            </a:r>
            <a:endParaRPr b="0" i="0" sz="689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ct val="255000"/>
              <a:buNone/>
            </a:pPr>
            <a:r>
              <a:t/>
            </a:r>
            <a:endParaRPr b="0" i="0" sz="22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179" name="Google Shape;179;p26"/>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80" name="Google Shape;180;p26"/>
          <p:cNvSpPr/>
          <p:nvPr/>
        </p:nvSpPr>
        <p:spPr>
          <a:xfrm>
            <a:off x="626040" y="4678560"/>
            <a:ext cx="864684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idx="1" type="subTitle"/>
          </p:nvPr>
        </p:nvSpPr>
        <p:spPr>
          <a:xfrm>
            <a:off x="358560" y="1132200"/>
            <a:ext cx="8520120" cy="3656520"/>
          </a:xfrm>
          <a:prstGeom prst="rect">
            <a:avLst/>
          </a:prstGeom>
          <a:noFill/>
          <a:ln>
            <a:noFill/>
          </a:ln>
        </p:spPr>
        <p:txBody>
          <a:bodyPr anchorCtr="0" anchor="t" bIns="91425" lIns="91425" spcFirstLastPara="1" rIns="91425" wrap="square" tIns="91425">
            <a:normAutofit/>
          </a:bodyPr>
          <a:lstStyle/>
          <a:p>
            <a:pPr indent="0" lvl="0" marL="0" marR="0" rtl="0" algn="just">
              <a:lnSpc>
                <a:spcPct val="80000"/>
              </a:lnSpc>
              <a:spcBef>
                <a:spcPts val="0"/>
              </a:spcBef>
              <a:spcAft>
                <a:spcPts val="0"/>
              </a:spcAft>
              <a:buSzPts val="1400"/>
              <a:buNone/>
            </a:pPr>
            <a:r>
              <a:rPr b="1" i="0" lang="en-GB" sz="2200" u="none" cap="none" strike="noStrike">
                <a:solidFill>
                  <a:schemeClr val="dk1"/>
                </a:solidFill>
                <a:latin typeface="Times New Roman"/>
                <a:ea typeface="Times New Roman"/>
                <a:cs typeface="Times New Roman"/>
                <a:sym typeface="Times New Roman"/>
              </a:rPr>
              <a:t>                                            WORK PLAN</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SzPts val="1400"/>
              <a:buNone/>
            </a:pPr>
            <a:r>
              <a:t/>
            </a:r>
            <a:endParaRPr b="0" i="0" sz="22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ts val="1400"/>
              <a:buNone/>
            </a:pPr>
            <a:r>
              <a:t/>
            </a:r>
            <a:endParaRPr b="0" i="0" sz="2180" u="none" cap="none" strike="noStrike">
              <a:solidFill>
                <a:srgbClr val="000000"/>
              </a:solidFill>
              <a:latin typeface="Arial"/>
              <a:ea typeface="Arial"/>
              <a:cs typeface="Arial"/>
              <a:sym typeface="Arial"/>
            </a:endParaRPr>
          </a:p>
        </p:txBody>
      </p:sp>
      <p:pic>
        <p:nvPicPr>
          <p:cNvPr id="186" name="Google Shape;186;p27"/>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187" name="Google Shape;187;p27"/>
          <p:cNvSpPr/>
          <p:nvPr/>
        </p:nvSpPr>
        <p:spPr>
          <a:xfrm>
            <a:off x="626040" y="4678560"/>
            <a:ext cx="864684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20</a:t>
            </a:r>
            <a:endParaRPr b="0" i="0" sz="1400" u="none" cap="none" strike="noStrike">
              <a:solidFill>
                <a:srgbClr val="000000"/>
              </a:solidFill>
              <a:latin typeface="Arial"/>
              <a:ea typeface="Arial"/>
              <a:cs typeface="Arial"/>
              <a:sym typeface="Arial"/>
            </a:endParaRPr>
          </a:p>
        </p:txBody>
      </p:sp>
      <p:sp>
        <p:nvSpPr>
          <p:cNvPr id="188" name="Google Shape;188;p27"/>
          <p:cNvSpPr/>
          <p:nvPr/>
        </p:nvSpPr>
        <p:spPr>
          <a:xfrm>
            <a:off x="626040" y="1657080"/>
            <a:ext cx="7716240" cy="2914200"/>
          </a:xfrm>
          <a:prstGeom prst="rect">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9" name="Google Shape;189;p27"/>
          <p:cNvCxnSpPr/>
          <p:nvPr/>
        </p:nvCxnSpPr>
        <p:spPr>
          <a:xfrm>
            <a:off x="621720" y="2374920"/>
            <a:ext cx="7732080" cy="11160"/>
          </a:xfrm>
          <a:prstGeom prst="straightConnector1">
            <a:avLst/>
          </a:prstGeom>
          <a:noFill/>
          <a:ln cap="flat" cmpd="sng" w="9525">
            <a:solidFill>
              <a:srgbClr val="595959"/>
            </a:solidFill>
            <a:prstDash val="solid"/>
            <a:round/>
            <a:headEnd len="sm" w="sm" type="none"/>
            <a:tailEnd len="sm" w="sm" type="none"/>
          </a:ln>
        </p:spPr>
      </p:cxnSp>
      <p:cxnSp>
        <p:nvCxnSpPr>
          <p:cNvPr id="190" name="Google Shape;190;p27"/>
          <p:cNvCxnSpPr>
            <a:stCxn id="188" idx="1"/>
            <a:endCxn id="188" idx="3"/>
          </p:cNvCxnSpPr>
          <p:nvPr/>
        </p:nvCxnSpPr>
        <p:spPr>
          <a:xfrm>
            <a:off x="626040" y="3114180"/>
            <a:ext cx="7716300" cy="0"/>
          </a:xfrm>
          <a:prstGeom prst="straightConnector1">
            <a:avLst/>
          </a:prstGeom>
          <a:noFill/>
          <a:ln cap="flat" cmpd="sng" w="9525">
            <a:solidFill>
              <a:srgbClr val="595959"/>
            </a:solidFill>
            <a:prstDash val="solid"/>
            <a:round/>
            <a:headEnd len="sm" w="sm" type="none"/>
            <a:tailEnd len="sm" w="sm" type="none"/>
          </a:ln>
        </p:spPr>
      </p:cxnSp>
      <p:cxnSp>
        <p:nvCxnSpPr>
          <p:cNvPr id="191" name="Google Shape;191;p27"/>
          <p:cNvCxnSpPr/>
          <p:nvPr/>
        </p:nvCxnSpPr>
        <p:spPr>
          <a:xfrm flipH="1" rot="10800000">
            <a:off x="643680" y="3810240"/>
            <a:ext cx="7720920" cy="21960"/>
          </a:xfrm>
          <a:prstGeom prst="straightConnector1">
            <a:avLst/>
          </a:prstGeom>
          <a:noFill/>
          <a:ln cap="flat" cmpd="sng" w="9525">
            <a:solidFill>
              <a:srgbClr val="595959"/>
            </a:solidFill>
            <a:prstDash val="solid"/>
            <a:round/>
            <a:headEnd len="sm" w="sm" type="none"/>
            <a:tailEnd len="sm" w="sm" type="none"/>
          </a:ln>
        </p:spPr>
      </p:cxnSp>
      <p:cxnSp>
        <p:nvCxnSpPr>
          <p:cNvPr id="192" name="Google Shape;192;p27"/>
          <p:cNvCxnSpPr>
            <a:stCxn id="188" idx="0"/>
            <a:endCxn id="188" idx="2"/>
          </p:cNvCxnSpPr>
          <p:nvPr/>
        </p:nvCxnSpPr>
        <p:spPr>
          <a:xfrm>
            <a:off x="4484160" y="1657080"/>
            <a:ext cx="0" cy="2914200"/>
          </a:xfrm>
          <a:prstGeom prst="straightConnector1">
            <a:avLst/>
          </a:prstGeom>
          <a:noFill/>
          <a:ln cap="flat" cmpd="sng" w="9525">
            <a:solidFill>
              <a:srgbClr val="595959"/>
            </a:solidFill>
            <a:prstDash val="solid"/>
            <a:round/>
            <a:headEnd len="sm" w="sm" type="none"/>
            <a:tailEnd len="sm" w="sm" type="none"/>
          </a:ln>
        </p:spPr>
      </p:cxnSp>
      <p:sp>
        <p:nvSpPr>
          <p:cNvPr id="193" name="Google Shape;193;p27"/>
          <p:cNvSpPr/>
          <p:nvPr/>
        </p:nvSpPr>
        <p:spPr>
          <a:xfrm>
            <a:off x="691200" y="1776960"/>
            <a:ext cx="3753360" cy="47196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n-GB" sz="1900" u="none" cap="none" strike="noStrike">
                <a:solidFill>
                  <a:schemeClr val="dk1"/>
                </a:solidFill>
                <a:latin typeface="Times New Roman"/>
                <a:ea typeface="Times New Roman"/>
                <a:cs typeface="Times New Roman"/>
                <a:sym typeface="Times New Roman"/>
              </a:rPr>
              <a:t> ABIN SANTHOSH</a:t>
            </a:r>
            <a:endParaRPr b="0" i="0" sz="1900" u="none" cap="none" strike="noStrike">
              <a:solidFill>
                <a:srgbClr val="000000"/>
              </a:solidFill>
              <a:latin typeface="Arial"/>
              <a:ea typeface="Arial"/>
              <a:cs typeface="Arial"/>
              <a:sym typeface="Arial"/>
            </a:endParaRPr>
          </a:p>
        </p:txBody>
      </p:sp>
      <p:sp>
        <p:nvSpPr>
          <p:cNvPr id="194" name="Google Shape;194;p27"/>
          <p:cNvSpPr/>
          <p:nvPr/>
        </p:nvSpPr>
        <p:spPr>
          <a:xfrm>
            <a:off x="665640" y="2472840"/>
            <a:ext cx="3818520" cy="55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r>
              <a:rPr b="0" i="0" lang="en-GB" sz="1800" u="none" cap="none" strike="noStrike">
                <a:solidFill>
                  <a:schemeClr val="dk1"/>
                </a:solidFill>
                <a:latin typeface="Times New Roman"/>
                <a:ea typeface="Times New Roman"/>
                <a:cs typeface="Times New Roman"/>
                <a:sym typeface="Times New Roman"/>
              </a:rPr>
              <a:t>ADHITH SUNIL</a:t>
            </a:r>
            <a:endParaRPr b="0" i="0" sz="1800" u="none" cap="none" strike="noStrike">
              <a:solidFill>
                <a:srgbClr val="000000"/>
              </a:solidFill>
              <a:latin typeface="Arial"/>
              <a:ea typeface="Arial"/>
              <a:cs typeface="Arial"/>
              <a:sym typeface="Arial"/>
            </a:endParaRPr>
          </a:p>
        </p:txBody>
      </p:sp>
      <p:sp>
        <p:nvSpPr>
          <p:cNvPr id="195" name="Google Shape;195;p27"/>
          <p:cNvSpPr/>
          <p:nvPr/>
        </p:nvSpPr>
        <p:spPr>
          <a:xfrm>
            <a:off x="691200" y="3217680"/>
            <a:ext cx="3696840" cy="488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Times New Roman"/>
                <a:ea typeface="Times New Roman"/>
                <a:cs typeface="Times New Roman"/>
                <a:sym typeface="Times New Roman"/>
              </a:rPr>
              <a:t>ADHWAITH T T</a:t>
            </a:r>
            <a:endParaRPr b="0" i="0" sz="1800" u="none" cap="none" strike="noStrike">
              <a:solidFill>
                <a:srgbClr val="000000"/>
              </a:solidFill>
              <a:latin typeface="Arial"/>
              <a:ea typeface="Arial"/>
              <a:cs typeface="Arial"/>
              <a:sym typeface="Arial"/>
            </a:endParaRPr>
          </a:p>
        </p:txBody>
      </p:sp>
      <p:sp>
        <p:nvSpPr>
          <p:cNvPr id="196" name="Google Shape;196;p27"/>
          <p:cNvSpPr/>
          <p:nvPr/>
        </p:nvSpPr>
        <p:spPr>
          <a:xfrm>
            <a:off x="622080" y="4010760"/>
            <a:ext cx="3653280" cy="488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r>
              <a:rPr b="0" i="0" lang="en-GB" sz="1800" u="none" cap="none" strike="noStrike">
                <a:solidFill>
                  <a:schemeClr val="dk1"/>
                </a:solidFill>
                <a:latin typeface="Times New Roman"/>
                <a:ea typeface="Times New Roman"/>
                <a:cs typeface="Times New Roman"/>
                <a:sym typeface="Times New Roman"/>
              </a:rPr>
              <a:t>ANITTA RAPHI E</a:t>
            </a:r>
            <a:endParaRPr b="0" i="0" sz="1800" u="none" cap="none" strike="noStrike">
              <a:solidFill>
                <a:srgbClr val="000000"/>
              </a:solidFill>
              <a:latin typeface="Arial"/>
              <a:ea typeface="Arial"/>
              <a:cs typeface="Arial"/>
              <a:sym typeface="Arial"/>
            </a:endParaRPr>
          </a:p>
        </p:txBody>
      </p:sp>
      <p:sp>
        <p:nvSpPr>
          <p:cNvPr id="197" name="Google Shape;197;p27"/>
          <p:cNvSpPr/>
          <p:nvPr/>
        </p:nvSpPr>
        <p:spPr>
          <a:xfrm>
            <a:off x="4536720" y="1776960"/>
            <a:ext cx="3653280" cy="488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Times New Roman"/>
                <a:ea typeface="Times New Roman"/>
                <a:cs typeface="Times New Roman"/>
                <a:sym typeface="Times New Roman"/>
              </a:rPr>
              <a:t> </a:t>
            </a:r>
            <a:r>
              <a:rPr b="0" i="0" lang="en-GB" sz="1800" u="none" cap="none" strike="noStrike">
                <a:solidFill>
                  <a:schemeClr val="dk1"/>
                </a:solidFill>
                <a:latin typeface="Times New Roman"/>
                <a:ea typeface="Times New Roman"/>
                <a:cs typeface="Times New Roman"/>
                <a:sym typeface="Times New Roman"/>
              </a:rPr>
              <a:t>Development &amp; Implementation</a:t>
            </a:r>
            <a:endParaRPr b="0" i="0" sz="1800" u="none" cap="none" strike="noStrike">
              <a:solidFill>
                <a:srgbClr val="000000"/>
              </a:solidFill>
              <a:latin typeface="Arial"/>
              <a:ea typeface="Arial"/>
              <a:cs typeface="Arial"/>
              <a:sym typeface="Arial"/>
            </a:endParaRPr>
          </a:p>
        </p:txBody>
      </p:sp>
      <p:sp>
        <p:nvSpPr>
          <p:cNvPr id="198" name="Google Shape;198;p27"/>
          <p:cNvSpPr/>
          <p:nvPr/>
        </p:nvSpPr>
        <p:spPr>
          <a:xfrm>
            <a:off x="4574880" y="2374920"/>
            <a:ext cx="3577320" cy="488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Times New Roman"/>
                <a:ea typeface="Times New Roman"/>
                <a:cs typeface="Times New Roman"/>
                <a:sym typeface="Times New Roman"/>
              </a:rPr>
              <a:t>Project Monitoring &amp; Quality Check</a:t>
            </a:r>
            <a:endParaRPr b="0" i="0" sz="1800" u="none" cap="none" strike="noStrike">
              <a:solidFill>
                <a:srgbClr val="000000"/>
              </a:solidFill>
              <a:latin typeface="Arial"/>
              <a:ea typeface="Arial"/>
              <a:cs typeface="Arial"/>
              <a:sym typeface="Arial"/>
            </a:endParaRPr>
          </a:p>
        </p:txBody>
      </p:sp>
      <p:sp>
        <p:nvSpPr>
          <p:cNvPr id="199" name="Google Shape;199;p27"/>
          <p:cNvSpPr/>
          <p:nvPr/>
        </p:nvSpPr>
        <p:spPr>
          <a:xfrm>
            <a:off x="4580280" y="3266640"/>
            <a:ext cx="3653280" cy="399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Times New Roman"/>
                <a:ea typeface="Times New Roman"/>
                <a:cs typeface="Times New Roman"/>
                <a:sym typeface="Times New Roman"/>
              </a:rPr>
              <a:t>Testing &amp; Risk Management</a:t>
            </a:r>
            <a:endParaRPr b="0" i="0" sz="1800" u="none" cap="none" strike="noStrike">
              <a:solidFill>
                <a:srgbClr val="000000"/>
              </a:solidFill>
              <a:latin typeface="Arial"/>
              <a:ea typeface="Arial"/>
              <a:cs typeface="Arial"/>
              <a:sym typeface="Arial"/>
            </a:endParaRPr>
          </a:p>
        </p:txBody>
      </p:sp>
      <p:sp>
        <p:nvSpPr>
          <p:cNvPr id="200" name="Google Shape;200;p27"/>
          <p:cNvSpPr/>
          <p:nvPr/>
        </p:nvSpPr>
        <p:spPr>
          <a:xfrm>
            <a:off x="4580280" y="3895200"/>
            <a:ext cx="3653280" cy="55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Times New Roman"/>
                <a:ea typeface="Times New Roman"/>
                <a:cs typeface="Times New Roman"/>
                <a:sym typeface="Times New Roman"/>
              </a:rPr>
              <a:t>Documentation &amp; Resource Handling</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idx="1" type="subTitle"/>
          </p:nvPr>
        </p:nvSpPr>
        <p:spPr>
          <a:xfrm>
            <a:off x="154800" y="1196280"/>
            <a:ext cx="8691840" cy="354636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just">
              <a:lnSpc>
                <a:spcPct val="80000"/>
              </a:lnSpc>
              <a:spcBef>
                <a:spcPts val="0"/>
              </a:spcBef>
              <a:spcAft>
                <a:spcPts val="0"/>
              </a:spcAft>
              <a:buSzPct val="255000"/>
              <a:buNone/>
            </a:pPr>
            <a:r>
              <a:rPr b="1" i="0" lang="en-GB" sz="2200" u="none" cap="none" strike="noStrike">
                <a:solidFill>
                  <a:schemeClr val="dk1"/>
                </a:solidFill>
                <a:latin typeface="Times New Roman"/>
                <a:ea typeface="Times New Roman"/>
                <a:cs typeface="Times New Roman"/>
                <a:sym typeface="Times New Roman"/>
              </a:rPr>
              <a:t>                                              </a:t>
            </a:r>
            <a:r>
              <a:rPr b="1" i="0" lang="en-GB" sz="8600" u="none" cap="none" strike="noStrike">
                <a:solidFill>
                  <a:schemeClr val="dk1"/>
                </a:solidFill>
                <a:latin typeface="Times New Roman"/>
                <a:ea typeface="Times New Roman"/>
                <a:cs typeface="Times New Roman"/>
                <a:sym typeface="Times New Roman"/>
              </a:rPr>
              <a:t>                            FEASIBILITY ANALYSIS</a:t>
            </a:r>
            <a:endParaRPr b="0" i="0" sz="86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144000"/>
              <a:buNone/>
            </a:pPr>
            <a:r>
              <a:t/>
            </a:r>
            <a:endParaRPr b="0" i="0" sz="39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120650" lvl="0" marL="457200" rtl="0" algn="l">
              <a:lnSpc>
                <a:spcPct val="130000"/>
              </a:lnSpc>
              <a:spcBef>
                <a:spcPts val="0"/>
              </a:spcBef>
              <a:spcAft>
                <a:spcPts val="0"/>
              </a:spcAft>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Technical Feasibility</a:t>
            </a:r>
            <a:endParaRPr sz="7600">
              <a:solidFill>
                <a:schemeClr val="dk1"/>
              </a:solidFill>
              <a:highlight>
                <a:srgbClr val="FFFFFF"/>
              </a:highlight>
              <a:latin typeface="Times New Roman"/>
              <a:ea typeface="Times New Roman"/>
              <a:cs typeface="Times New Roman"/>
              <a:sym typeface="Times New Roman"/>
            </a:endParaRPr>
          </a:p>
          <a:p>
            <a:pPr indent="0" lvl="0" marL="457200" rtl="0" algn="l">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120650" lvl="0" marL="457200" rtl="0" algn="l">
              <a:lnSpc>
                <a:spcPct val="130000"/>
              </a:lnSpc>
              <a:spcBef>
                <a:spcPts val="0"/>
              </a:spcBef>
              <a:spcAft>
                <a:spcPts val="0"/>
              </a:spcAft>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Economic Feasibility </a:t>
            </a:r>
            <a:endParaRPr sz="7600">
              <a:solidFill>
                <a:schemeClr val="dk1"/>
              </a:solidFill>
              <a:highlight>
                <a:srgbClr val="FFFFFF"/>
              </a:highlight>
              <a:latin typeface="Times New Roman"/>
              <a:ea typeface="Times New Roman"/>
              <a:cs typeface="Times New Roman"/>
              <a:sym typeface="Times New Roman"/>
            </a:endParaRPr>
          </a:p>
          <a:p>
            <a:pPr indent="0" lvl="0" marL="457200" rtl="0" algn="l">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120650" lvl="0" marL="457200" rtl="0" algn="l">
              <a:lnSpc>
                <a:spcPct val="130000"/>
              </a:lnSpc>
              <a:spcBef>
                <a:spcPts val="0"/>
              </a:spcBef>
              <a:spcAft>
                <a:spcPts val="0"/>
              </a:spcAft>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Social Feasibility </a:t>
            </a:r>
            <a:endParaRPr sz="7600">
              <a:solidFill>
                <a:schemeClr val="dk1"/>
              </a:solidFill>
              <a:highlight>
                <a:srgbClr val="FFFFFF"/>
              </a:highlight>
              <a:latin typeface="Times New Roman"/>
              <a:ea typeface="Times New Roman"/>
              <a:cs typeface="Times New Roman"/>
              <a:sym typeface="Times New Roman"/>
            </a:endParaRPr>
          </a:p>
          <a:p>
            <a:pPr indent="0" lvl="0" marL="91440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120650" lvl="0" marL="457200" rtl="0" algn="l">
              <a:lnSpc>
                <a:spcPct val="130000"/>
              </a:lnSpc>
              <a:spcBef>
                <a:spcPts val="0"/>
              </a:spcBef>
              <a:spcAft>
                <a:spcPts val="0"/>
              </a:spcAft>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Legal &amp; Ethical Feasibility </a:t>
            </a:r>
            <a:endParaRPr sz="7600">
              <a:solidFill>
                <a:schemeClr val="dk1"/>
              </a:solidFill>
              <a:highlight>
                <a:srgbClr val="FFFFFF"/>
              </a:highlight>
              <a:latin typeface="Times New Roman"/>
              <a:ea typeface="Times New Roman"/>
              <a:cs typeface="Times New Roman"/>
              <a:sym typeface="Times New Roman"/>
            </a:endParaRPr>
          </a:p>
          <a:p>
            <a:pPr indent="0" lvl="0" marL="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91000"/>
              <a:buNone/>
            </a:pPr>
            <a:r>
              <a:rPr b="0" i="0" lang="en-GB" sz="6150" u="none" cap="none" strike="noStrike">
                <a:solidFill>
                  <a:schemeClr val="dk1"/>
                </a:solidFill>
                <a:latin typeface="Times New Roman"/>
                <a:ea typeface="Times New Roman"/>
                <a:cs typeface="Times New Roman"/>
                <a:sym typeface="Times New Roman"/>
              </a:rPr>
              <a:t> </a:t>
            </a:r>
            <a:endParaRPr b="0" i="0" sz="6150" u="none" cap="none" strike="noStrike">
              <a:solidFill>
                <a:srgbClr val="000000"/>
              </a:solidFill>
              <a:latin typeface="Arial"/>
              <a:ea typeface="Arial"/>
              <a:cs typeface="Arial"/>
              <a:sym typeface="Arial"/>
            </a:endParaRPr>
          </a:p>
          <a:p>
            <a:pPr indent="0" lvl="0" marL="1371600" marR="0" rtl="0" algn="just">
              <a:lnSpc>
                <a:spcPct val="13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206" name="Google Shape;206;p28"/>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07" name="Google Shape;207;p28"/>
          <p:cNvSpPr/>
          <p:nvPr/>
        </p:nvSpPr>
        <p:spPr>
          <a:xfrm>
            <a:off x="626040" y="4678560"/>
            <a:ext cx="864684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a:t>
            </a: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225875" y="1061280"/>
            <a:ext cx="8691900" cy="3546300"/>
          </a:xfrm>
          <a:prstGeom prst="rect">
            <a:avLst/>
          </a:prstGeom>
          <a:noFill/>
          <a:ln>
            <a:noFill/>
          </a:ln>
        </p:spPr>
        <p:txBody>
          <a:bodyPr anchorCtr="0" anchor="t" bIns="91425" lIns="91425" spcFirstLastPara="1" rIns="91425" wrap="square" tIns="91425">
            <a:normAutofit fontScale="32500" lnSpcReduction="10000"/>
          </a:bodyPr>
          <a:lstStyle/>
          <a:p>
            <a:pPr indent="0" lvl="0" marL="0" marR="0" rtl="0" algn="ctr">
              <a:lnSpc>
                <a:spcPct val="80000"/>
              </a:lnSpc>
              <a:spcBef>
                <a:spcPts val="0"/>
              </a:spcBef>
              <a:spcAft>
                <a:spcPts val="0"/>
              </a:spcAft>
              <a:buSzPct val="65000"/>
              <a:buNone/>
            </a:pPr>
            <a:r>
              <a:rPr b="1" lang="en-GB" sz="8600">
                <a:solidFill>
                  <a:schemeClr val="dk1"/>
                </a:solidFill>
                <a:latin typeface="Times New Roman"/>
                <a:ea typeface="Times New Roman"/>
                <a:cs typeface="Times New Roman"/>
                <a:sym typeface="Times New Roman"/>
              </a:rPr>
              <a:t>CODING SNAPS</a:t>
            </a:r>
            <a:endParaRPr b="0" i="0" sz="86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144000"/>
              <a:buNone/>
            </a:pPr>
            <a:r>
              <a:t/>
            </a:r>
            <a:endParaRPr b="0" i="0" sz="39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457200" rtl="0" algn="l">
              <a:lnSpc>
                <a:spcPct val="130000"/>
              </a:lnSpc>
              <a:spcBef>
                <a:spcPts val="0"/>
              </a:spcBef>
              <a:spcAft>
                <a:spcPts val="0"/>
              </a:spcAft>
              <a:buSzPct val="5668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91000"/>
              <a:buNone/>
            </a:pPr>
            <a:r>
              <a:rPr b="0" i="0" lang="en-GB" sz="6150" u="none" cap="none" strike="noStrike">
                <a:solidFill>
                  <a:schemeClr val="dk1"/>
                </a:solidFill>
                <a:latin typeface="Times New Roman"/>
                <a:ea typeface="Times New Roman"/>
                <a:cs typeface="Times New Roman"/>
                <a:sym typeface="Times New Roman"/>
              </a:rPr>
              <a:t> </a:t>
            </a:r>
            <a:endParaRPr b="0" i="0" sz="6150" u="none" cap="none" strike="noStrike">
              <a:solidFill>
                <a:srgbClr val="000000"/>
              </a:solidFill>
              <a:latin typeface="Arial"/>
              <a:ea typeface="Arial"/>
              <a:cs typeface="Arial"/>
              <a:sym typeface="Arial"/>
            </a:endParaRPr>
          </a:p>
          <a:p>
            <a:pPr indent="0" lvl="0" marL="1371600" marR="0" rtl="0" algn="just">
              <a:lnSpc>
                <a:spcPct val="13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213" name="Google Shape;213;p29"/>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14" name="Google Shape;214;p29"/>
          <p:cNvSpPr/>
          <p:nvPr/>
        </p:nvSpPr>
        <p:spPr>
          <a:xfrm>
            <a:off x="471340" y="4877585"/>
            <a:ext cx="86469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a:t>
            </a: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22</a:t>
            </a:r>
            <a:endParaRPr b="0" i="0" sz="1400" u="none" cap="none" strike="noStrike">
              <a:solidFill>
                <a:srgbClr val="000000"/>
              </a:solidFill>
              <a:latin typeface="Arial"/>
              <a:ea typeface="Arial"/>
              <a:cs typeface="Arial"/>
              <a:sym typeface="Arial"/>
            </a:endParaRPr>
          </a:p>
        </p:txBody>
      </p:sp>
      <p:pic>
        <p:nvPicPr>
          <p:cNvPr id="215" name="Google Shape;215;p29" title="Screenshot1.png"/>
          <p:cNvPicPr preferRelativeResize="0"/>
          <p:nvPr/>
        </p:nvPicPr>
        <p:blipFill rotWithShape="1">
          <a:blip r:embed="rId4">
            <a:alphaModFix/>
          </a:blip>
          <a:srcRect b="0" l="0" r="0" t="0"/>
          <a:stretch/>
        </p:blipFill>
        <p:spPr>
          <a:xfrm>
            <a:off x="1233925" y="1455488"/>
            <a:ext cx="3135199" cy="3425875"/>
          </a:xfrm>
          <a:prstGeom prst="rect">
            <a:avLst/>
          </a:prstGeom>
          <a:noFill/>
          <a:ln>
            <a:noFill/>
          </a:ln>
        </p:spPr>
      </p:pic>
      <p:pic>
        <p:nvPicPr>
          <p:cNvPr id="216" name="Google Shape;216;p29" title="Screenshot2.png"/>
          <p:cNvPicPr preferRelativeResize="0"/>
          <p:nvPr/>
        </p:nvPicPr>
        <p:blipFill rotWithShape="1">
          <a:blip r:embed="rId5">
            <a:alphaModFix/>
          </a:blip>
          <a:srcRect b="0" l="0" r="0" t="0"/>
          <a:stretch/>
        </p:blipFill>
        <p:spPr>
          <a:xfrm>
            <a:off x="4912577" y="1453588"/>
            <a:ext cx="3135201" cy="342965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idx="1" type="subTitle"/>
          </p:nvPr>
        </p:nvSpPr>
        <p:spPr>
          <a:xfrm>
            <a:off x="225875" y="1061280"/>
            <a:ext cx="8691900" cy="3546300"/>
          </a:xfrm>
          <a:prstGeom prst="rect">
            <a:avLst/>
          </a:prstGeom>
          <a:noFill/>
          <a:ln>
            <a:noFill/>
          </a:ln>
        </p:spPr>
        <p:txBody>
          <a:bodyPr anchorCtr="0" anchor="t" bIns="91425" lIns="91425" spcFirstLastPara="1" rIns="91425" wrap="square" tIns="91425">
            <a:normAutofit fontScale="32500" lnSpcReduction="10000"/>
          </a:bodyPr>
          <a:lstStyle/>
          <a:p>
            <a:pPr indent="0" lvl="0" marL="0" marR="0" rtl="0" algn="ctr">
              <a:lnSpc>
                <a:spcPct val="80000"/>
              </a:lnSpc>
              <a:spcBef>
                <a:spcPts val="0"/>
              </a:spcBef>
              <a:spcAft>
                <a:spcPts val="0"/>
              </a:spcAft>
              <a:buSzPct val="65000"/>
              <a:buNone/>
            </a:pPr>
            <a:r>
              <a:rPr b="1" lang="en-GB" sz="8600">
                <a:solidFill>
                  <a:schemeClr val="dk1"/>
                </a:solidFill>
                <a:latin typeface="Times New Roman"/>
                <a:ea typeface="Times New Roman"/>
                <a:cs typeface="Times New Roman"/>
                <a:sym typeface="Times New Roman"/>
              </a:rPr>
              <a:t>CODING SNAPS</a:t>
            </a:r>
            <a:endParaRPr b="0" i="0" sz="86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144000"/>
              <a:buNone/>
            </a:pPr>
            <a:r>
              <a:t/>
            </a:r>
            <a:endParaRPr b="0" i="0" sz="39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457200" rtl="0" algn="l">
              <a:lnSpc>
                <a:spcPct val="130000"/>
              </a:lnSpc>
              <a:spcBef>
                <a:spcPts val="0"/>
              </a:spcBef>
              <a:spcAft>
                <a:spcPts val="0"/>
              </a:spcAft>
              <a:buSzPct val="5668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91000"/>
              <a:buNone/>
            </a:pPr>
            <a:r>
              <a:rPr b="0" i="0" lang="en-GB" sz="6150" u="none" cap="none" strike="noStrike">
                <a:solidFill>
                  <a:schemeClr val="dk1"/>
                </a:solidFill>
                <a:latin typeface="Times New Roman"/>
                <a:ea typeface="Times New Roman"/>
                <a:cs typeface="Times New Roman"/>
                <a:sym typeface="Times New Roman"/>
              </a:rPr>
              <a:t> </a:t>
            </a:r>
            <a:endParaRPr b="0" i="0" sz="6150" u="none" cap="none" strike="noStrike">
              <a:solidFill>
                <a:srgbClr val="000000"/>
              </a:solidFill>
              <a:latin typeface="Arial"/>
              <a:ea typeface="Arial"/>
              <a:cs typeface="Arial"/>
              <a:sym typeface="Arial"/>
            </a:endParaRPr>
          </a:p>
          <a:p>
            <a:pPr indent="0" lvl="0" marL="1371600" marR="0" rtl="0" algn="just">
              <a:lnSpc>
                <a:spcPct val="13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222" name="Google Shape;222;p30"/>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23" name="Google Shape;223;p30"/>
          <p:cNvSpPr/>
          <p:nvPr/>
        </p:nvSpPr>
        <p:spPr>
          <a:xfrm>
            <a:off x="471340" y="4877585"/>
            <a:ext cx="86469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23</a:t>
            </a:r>
            <a:endParaRPr b="0" i="0" sz="1400" u="none" cap="none" strike="noStrike">
              <a:solidFill>
                <a:srgbClr val="000000"/>
              </a:solidFill>
              <a:latin typeface="Arial"/>
              <a:ea typeface="Arial"/>
              <a:cs typeface="Arial"/>
              <a:sym typeface="Arial"/>
            </a:endParaRPr>
          </a:p>
        </p:txBody>
      </p:sp>
      <p:pic>
        <p:nvPicPr>
          <p:cNvPr id="224" name="Google Shape;224;p30" title="Screenshot5.png"/>
          <p:cNvPicPr preferRelativeResize="0"/>
          <p:nvPr/>
        </p:nvPicPr>
        <p:blipFill rotWithShape="1">
          <a:blip r:embed="rId4">
            <a:alphaModFix/>
          </a:blip>
          <a:srcRect b="0" l="0" r="0" t="0"/>
          <a:stretch/>
        </p:blipFill>
        <p:spPr>
          <a:xfrm>
            <a:off x="1233925" y="1455488"/>
            <a:ext cx="3135199" cy="3425875"/>
          </a:xfrm>
          <a:prstGeom prst="rect">
            <a:avLst/>
          </a:prstGeom>
          <a:noFill/>
          <a:ln>
            <a:noFill/>
          </a:ln>
        </p:spPr>
      </p:pic>
      <p:pic>
        <p:nvPicPr>
          <p:cNvPr id="225" name="Google Shape;225;p30" title="Screenshot6.png"/>
          <p:cNvPicPr preferRelativeResize="0"/>
          <p:nvPr/>
        </p:nvPicPr>
        <p:blipFill rotWithShape="1">
          <a:blip r:embed="rId5">
            <a:alphaModFix/>
          </a:blip>
          <a:srcRect b="0" l="59" r="49" t="0"/>
          <a:stretch/>
        </p:blipFill>
        <p:spPr>
          <a:xfrm>
            <a:off x="4912577" y="1453588"/>
            <a:ext cx="3135202" cy="342965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idx="1" type="subTitle"/>
          </p:nvPr>
        </p:nvSpPr>
        <p:spPr>
          <a:xfrm>
            <a:off x="225875" y="1061280"/>
            <a:ext cx="8691900" cy="3546300"/>
          </a:xfrm>
          <a:prstGeom prst="rect">
            <a:avLst/>
          </a:prstGeom>
          <a:noFill/>
          <a:ln>
            <a:noFill/>
          </a:ln>
        </p:spPr>
        <p:txBody>
          <a:bodyPr anchorCtr="0" anchor="t" bIns="91425" lIns="91425" spcFirstLastPara="1" rIns="91425" wrap="square" tIns="91425">
            <a:normAutofit fontScale="32500" lnSpcReduction="10000"/>
          </a:bodyPr>
          <a:lstStyle/>
          <a:p>
            <a:pPr indent="0" lvl="0" marL="0" marR="0" rtl="0" algn="ctr">
              <a:lnSpc>
                <a:spcPct val="80000"/>
              </a:lnSpc>
              <a:spcBef>
                <a:spcPts val="0"/>
              </a:spcBef>
              <a:spcAft>
                <a:spcPts val="0"/>
              </a:spcAft>
              <a:buSzPct val="65000"/>
              <a:buNone/>
            </a:pPr>
            <a:r>
              <a:rPr b="1" lang="en-GB" sz="8600">
                <a:solidFill>
                  <a:schemeClr val="dk1"/>
                </a:solidFill>
                <a:latin typeface="Times New Roman"/>
                <a:ea typeface="Times New Roman"/>
                <a:cs typeface="Times New Roman"/>
                <a:sym typeface="Times New Roman"/>
              </a:rPr>
              <a:t>OUTPUT</a:t>
            </a:r>
            <a:endParaRPr b="0" i="0" sz="86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144000"/>
              <a:buNone/>
            </a:pPr>
            <a:r>
              <a:t/>
            </a:r>
            <a:endParaRPr b="0" i="0" sz="39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457200" rtl="0" algn="l">
              <a:lnSpc>
                <a:spcPct val="130000"/>
              </a:lnSpc>
              <a:spcBef>
                <a:spcPts val="0"/>
              </a:spcBef>
              <a:spcAft>
                <a:spcPts val="0"/>
              </a:spcAft>
              <a:buSzPct val="5668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91000"/>
              <a:buNone/>
            </a:pPr>
            <a:r>
              <a:rPr b="0" i="0" lang="en-GB" sz="6150" u="none" cap="none" strike="noStrike">
                <a:solidFill>
                  <a:schemeClr val="dk1"/>
                </a:solidFill>
                <a:latin typeface="Times New Roman"/>
                <a:ea typeface="Times New Roman"/>
                <a:cs typeface="Times New Roman"/>
                <a:sym typeface="Times New Roman"/>
              </a:rPr>
              <a:t> </a:t>
            </a:r>
            <a:endParaRPr b="0" i="0" sz="6150" u="none" cap="none" strike="noStrike">
              <a:solidFill>
                <a:srgbClr val="000000"/>
              </a:solidFill>
              <a:latin typeface="Arial"/>
              <a:ea typeface="Arial"/>
              <a:cs typeface="Arial"/>
              <a:sym typeface="Arial"/>
            </a:endParaRPr>
          </a:p>
          <a:p>
            <a:pPr indent="0" lvl="0" marL="1371600" marR="0" rtl="0" algn="just">
              <a:lnSpc>
                <a:spcPct val="13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231" name="Google Shape;231;p31"/>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32" name="Google Shape;232;p31"/>
          <p:cNvSpPr/>
          <p:nvPr/>
        </p:nvSpPr>
        <p:spPr>
          <a:xfrm>
            <a:off x="387590" y="4881385"/>
            <a:ext cx="86469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24</a:t>
            </a:r>
            <a:endParaRPr b="0" i="0" sz="1400" u="none" cap="none" strike="noStrike">
              <a:solidFill>
                <a:srgbClr val="000000"/>
              </a:solidFill>
              <a:latin typeface="Arial"/>
              <a:ea typeface="Arial"/>
              <a:cs typeface="Arial"/>
              <a:sym typeface="Arial"/>
            </a:endParaRPr>
          </a:p>
        </p:txBody>
      </p:sp>
      <p:pic>
        <p:nvPicPr>
          <p:cNvPr id="233" name="Google Shape;233;p31" title="WhatsApp Image 2025-03-27 at 14.33.03_6a46756b.jpg"/>
          <p:cNvPicPr preferRelativeResize="0"/>
          <p:nvPr/>
        </p:nvPicPr>
        <p:blipFill rotWithShape="1">
          <a:blip r:embed="rId4">
            <a:alphaModFix/>
          </a:blip>
          <a:srcRect b="0" l="15682" r="15682" t="0"/>
          <a:stretch/>
        </p:blipFill>
        <p:spPr>
          <a:xfrm>
            <a:off x="1233925" y="1455488"/>
            <a:ext cx="3135201" cy="3425875"/>
          </a:xfrm>
          <a:prstGeom prst="rect">
            <a:avLst/>
          </a:prstGeom>
          <a:noFill/>
          <a:ln>
            <a:noFill/>
          </a:ln>
        </p:spPr>
      </p:pic>
      <p:pic>
        <p:nvPicPr>
          <p:cNvPr id="234" name="Google Shape;234;p31" title="WhatsApp Image 2025-03-27 at 14.33.05_e23481df.jpg"/>
          <p:cNvPicPr preferRelativeResize="0"/>
          <p:nvPr/>
        </p:nvPicPr>
        <p:blipFill rotWithShape="1">
          <a:blip r:embed="rId5">
            <a:alphaModFix/>
          </a:blip>
          <a:srcRect b="0" l="15720" r="15719" t="0"/>
          <a:stretch/>
        </p:blipFill>
        <p:spPr>
          <a:xfrm>
            <a:off x="4912577" y="1453588"/>
            <a:ext cx="3135201" cy="342965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idx="1" type="subTitle"/>
          </p:nvPr>
        </p:nvSpPr>
        <p:spPr>
          <a:xfrm>
            <a:off x="225875" y="1061280"/>
            <a:ext cx="8691900" cy="3546300"/>
          </a:xfrm>
          <a:prstGeom prst="rect">
            <a:avLst/>
          </a:prstGeom>
          <a:noFill/>
          <a:ln>
            <a:noFill/>
          </a:ln>
        </p:spPr>
        <p:txBody>
          <a:bodyPr anchorCtr="0" anchor="t" bIns="91425" lIns="91425" spcFirstLastPara="1" rIns="91425" wrap="square" tIns="91425">
            <a:normAutofit fontScale="42500" lnSpcReduction="10000"/>
          </a:bodyPr>
          <a:lstStyle/>
          <a:p>
            <a:pPr indent="0" lvl="0" marL="0" rtl="0" algn="ctr">
              <a:lnSpc>
                <a:spcPct val="80000"/>
              </a:lnSpc>
              <a:spcBef>
                <a:spcPts val="0"/>
              </a:spcBef>
              <a:spcAft>
                <a:spcPts val="0"/>
              </a:spcAft>
              <a:buClr>
                <a:schemeClr val="dk1"/>
              </a:buClr>
              <a:buSzPct val="65000"/>
              <a:buFont typeface="Arial"/>
              <a:buNone/>
            </a:pPr>
            <a:r>
              <a:rPr b="1" lang="en-GB" sz="8600">
                <a:solidFill>
                  <a:schemeClr val="dk1"/>
                </a:solidFill>
                <a:latin typeface="Times New Roman"/>
                <a:ea typeface="Times New Roman"/>
                <a:cs typeface="Times New Roman"/>
                <a:sym typeface="Times New Roman"/>
              </a:rPr>
              <a:t>OUTPUT</a:t>
            </a:r>
            <a:endParaRPr b="0" i="0" sz="8600" u="none" cap="none" strike="noStrike">
              <a:solidFill>
                <a:srgbClr val="000000"/>
              </a:solidFill>
              <a:latin typeface="Times New Roman"/>
              <a:ea typeface="Times New Roman"/>
              <a:cs typeface="Times New Roman"/>
              <a:sym typeface="Times New Roman"/>
            </a:endParaRPr>
          </a:p>
          <a:p>
            <a:pPr indent="0" lvl="0" marL="0" marR="0" rtl="0" algn="just">
              <a:lnSpc>
                <a:spcPct val="80000"/>
              </a:lnSpc>
              <a:spcBef>
                <a:spcPts val="0"/>
              </a:spcBef>
              <a:spcAft>
                <a:spcPts val="0"/>
              </a:spcAft>
              <a:buSzPct val="144000"/>
              <a:buNone/>
            </a:pPr>
            <a:r>
              <a:t/>
            </a:r>
            <a:endParaRPr b="0" i="0" sz="39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457200" rtl="0" algn="l">
              <a:lnSpc>
                <a:spcPct val="130000"/>
              </a:lnSpc>
              <a:spcBef>
                <a:spcPts val="0"/>
              </a:spcBef>
              <a:spcAft>
                <a:spcPts val="0"/>
              </a:spcAft>
              <a:buSzPct val="43343"/>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91000"/>
              <a:buNone/>
            </a:pPr>
            <a:r>
              <a:rPr b="0" i="0" lang="en-GB" sz="6150" u="none" cap="none" strike="noStrike">
                <a:solidFill>
                  <a:schemeClr val="dk1"/>
                </a:solidFill>
                <a:latin typeface="Times New Roman"/>
                <a:ea typeface="Times New Roman"/>
                <a:cs typeface="Times New Roman"/>
                <a:sym typeface="Times New Roman"/>
              </a:rPr>
              <a:t> </a:t>
            </a:r>
            <a:endParaRPr b="0" i="0" sz="6150" u="none" cap="none" strike="noStrike">
              <a:solidFill>
                <a:srgbClr val="000000"/>
              </a:solidFill>
              <a:latin typeface="Arial"/>
              <a:ea typeface="Arial"/>
              <a:cs typeface="Arial"/>
              <a:sym typeface="Arial"/>
            </a:endParaRPr>
          </a:p>
          <a:p>
            <a:pPr indent="0" lvl="0" marL="1371600" marR="0" rtl="0" algn="just">
              <a:lnSpc>
                <a:spcPct val="13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240" name="Google Shape;240;p32"/>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41" name="Google Shape;241;p32"/>
          <p:cNvSpPr/>
          <p:nvPr/>
        </p:nvSpPr>
        <p:spPr>
          <a:xfrm>
            <a:off x="471340" y="4877585"/>
            <a:ext cx="86469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a:t>
            </a: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25</a:t>
            </a:r>
            <a:endParaRPr b="0" i="0" sz="1400" u="none" cap="none" strike="noStrike">
              <a:solidFill>
                <a:srgbClr val="000000"/>
              </a:solidFill>
              <a:latin typeface="Arial"/>
              <a:ea typeface="Arial"/>
              <a:cs typeface="Arial"/>
              <a:sym typeface="Arial"/>
            </a:endParaRPr>
          </a:p>
        </p:txBody>
      </p:sp>
      <p:pic>
        <p:nvPicPr>
          <p:cNvPr id="242" name="Google Shape;242;p32" title="WhatsApp Image 2025-03-27 at 14.33.04_b5869d7d.jpg"/>
          <p:cNvPicPr preferRelativeResize="0"/>
          <p:nvPr/>
        </p:nvPicPr>
        <p:blipFill rotWithShape="1">
          <a:blip r:embed="rId4">
            <a:alphaModFix/>
          </a:blip>
          <a:srcRect b="0" l="15682" r="15682" t="0"/>
          <a:stretch/>
        </p:blipFill>
        <p:spPr>
          <a:xfrm>
            <a:off x="3004225" y="1497363"/>
            <a:ext cx="3135201" cy="34258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3"/>
          <p:cNvSpPr txBox="1"/>
          <p:nvPr>
            <p:ph idx="1" type="subTitle"/>
          </p:nvPr>
        </p:nvSpPr>
        <p:spPr>
          <a:xfrm>
            <a:off x="225875" y="1061280"/>
            <a:ext cx="8691900" cy="3546300"/>
          </a:xfrm>
          <a:prstGeom prst="rect">
            <a:avLst/>
          </a:prstGeom>
          <a:noFill/>
          <a:ln>
            <a:noFill/>
          </a:ln>
        </p:spPr>
        <p:txBody>
          <a:bodyPr anchorCtr="0" anchor="t" bIns="91425" lIns="91425" spcFirstLastPara="1" rIns="91425" wrap="square" tIns="91425">
            <a:normAutofit fontScale="42500" lnSpcReduction="10000"/>
          </a:bodyPr>
          <a:lstStyle/>
          <a:p>
            <a:pPr indent="0" lvl="0" marL="0" rtl="0" algn="ctr">
              <a:lnSpc>
                <a:spcPct val="80000"/>
              </a:lnSpc>
              <a:spcBef>
                <a:spcPts val="0"/>
              </a:spcBef>
              <a:spcAft>
                <a:spcPts val="0"/>
              </a:spcAft>
              <a:buClr>
                <a:schemeClr val="dk1"/>
              </a:buClr>
              <a:buSzPct val="65000"/>
              <a:buFont typeface="Arial"/>
              <a:buNone/>
            </a:pPr>
            <a:r>
              <a:rPr b="0" i="0" lang="en-GB" sz="8600" u="none" cap="none" strike="noStrike">
                <a:solidFill>
                  <a:srgbClr val="000000"/>
                </a:solidFill>
                <a:latin typeface="Times New Roman"/>
                <a:ea typeface="Times New Roman"/>
                <a:cs typeface="Times New Roman"/>
                <a:sym typeface="Times New Roman"/>
              </a:rPr>
              <a:t>PERFORMANCE ANALYSIS</a:t>
            </a:r>
            <a:endParaRPr b="0" i="0" sz="8600" u="none" cap="none" strike="noStrike">
              <a:solidFill>
                <a:srgbClr val="000000"/>
              </a:solidFill>
              <a:latin typeface="Times New Roman"/>
              <a:ea typeface="Times New Roman"/>
              <a:cs typeface="Times New Roman"/>
              <a:sym typeface="Times New Roman"/>
            </a:endParaRPr>
          </a:p>
          <a:p>
            <a:pPr indent="0" lvl="0" marL="0" marR="0" rtl="0" algn="just">
              <a:lnSpc>
                <a:spcPct val="80000"/>
              </a:lnSpc>
              <a:spcBef>
                <a:spcPts val="0"/>
              </a:spcBef>
              <a:spcAft>
                <a:spcPts val="0"/>
              </a:spcAft>
              <a:buSzPct val="144000"/>
              <a:buNone/>
            </a:pPr>
            <a:r>
              <a:t/>
            </a:r>
            <a:endParaRPr b="0" i="0" sz="39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457200" rtl="0" algn="l">
              <a:lnSpc>
                <a:spcPct val="130000"/>
              </a:lnSpc>
              <a:spcBef>
                <a:spcPts val="0"/>
              </a:spcBef>
              <a:spcAft>
                <a:spcPts val="0"/>
              </a:spcAft>
              <a:buSzPct val="43343"/>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91000"/>
              <a:buNone/>
            </a:pPr>
            <a:r>
              <a:rPr b="0" i="0" lang="en-GB" sz="6150" u="none" cap="none" strike="noStrike">
                <a:solidFill>
                  <a:schemeClr val="dk1"/>
                </a:solidFill>
                <a:latin typeface="Times New Roman"/>
                <a:ea typeface="Times New Roman"/>
                <a:cs typeface="Times New Roman"/>
                <a:sym typeface="Times New Roman"/>
              </a:rPr>
              <a:t> </a:t>
            </a:r>
            <a:endParaRPr b="0" i="0" sz="6150" u="none" cap="none" strike="noStrike">
              <a:solidFill>
                <a:srgbClr val="000000"/>
              </a:solidFill>
              <a:latin typeface="Arial"/>
              <a:ea typeface="Arial"/>
              <a:cs typeface="Arial"/>
              <a:sym typeface="Arial"/>
            </a:endParaRPr>
          </a:p>
          <a:p>
            <a:pPr indent="0" lvl="0" marL="1371600" marR="0" rtl="0" algn="just">
              <a:lnSpc>
                <a:spcPct val="13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248" name="Google Shape;248;p33"/>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49" name="Google Shape;249;p33"/>
          <p:cNvSpPr/>
          <p:nvPr/>
        </p:nvSpPr>
        <p:spPr>
          <a:xfrm>
            <a:off x="471340" y="4877585"/>
            <a:ext cx="86469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a:t>
            </a: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26</a:t>
            </a:r>
            <a:endParaRPr b="0" i="0" sz="1400" u="none" cap="none" strike="noStrike">
              <a:solidFill>
                <a:schemeClr val="dk1"/>
              </a:solidFill>
              <a:latin typeface="Arial"/>
              <a:ea typeface="Arial"/>
              <a:cs typeface="Arial"/>
              <a:sym typeface="Arial"/>
            </a:endParaRPr>
          </a:p>
        </p:txBody>
      </p:sp>
      <p:pic>
        <p:nvPicPr>
          <p:cNvPr descr="WhatsApp Image 2025-03-28 at 11.32.41_a4263a31" id="250" name="Google Shape;250;p33"/>
          <p:cNvPicPr preferRelativeResize="0"/>
          <p:nvPr/>
        </p:nvPicPr>
        <p:blipFill rotWithShape="1">
          <a:blip r:embed="rId4">
            <a:alphaModFix/>
          </a:blip>
          <a:srcRect b="0" l="0" r="0" t="2084"/>
          <a:stretch/>
        </p:blipFill>
        <p:spPr>
          <a:xfrm>
            <a:off x="1331595" y="1564005"/>
            <a:ext cx="6303010" cy="34004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idx="1" type="subTitle"/>
          </p:nvPr>
        </p:nvSpPr>
        <p:spPr>
          <a:xfrm>
            <a:off x="154800" y="1196280"/>
            <a:ext cx="8691900" cy="354630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just">
              <a:lnSpc>
                <a:spcPct val="80000"/>
              </a:lnSpc>
              <a:spcBef>
                <a:spcPts val="0"/>
              </a:spcBef>
              <a:spcAft>
                <a:spcPts val="0"/>
              </a:spcAft>
              <a:buSzPct val="255000"/>
              <a:buNone/>
            </a:pPr>
            <a:r>
              <a:rPr b="1" i="0" lang="en-GB" sz="2200" u="none" cap="none" strike="noStrike">
                <a:solidFill>
                  <a:schemeClr val="dk1"/>
                </a:solidFill>
                <a:latin typeface="Times New Roman"/>
                <a:ea typeface="Times New Roman"/>
                <a:cs typeface="Times New Roman"/>
                <a:sym typeface="Times New Roman"/>
              </a:rPr>
              <a:t>                                              </a:t>
            </a:r>
            <a:r>
              <a:rPr b="1" i="0" lang="en-GB" sz="8600" u="none" cap="none" strike="noStrike">
                <a:solidFill>
                  <a:schemeClr val="dk1"/>
                </a:solidFill>
                <a:latin typeface="Times New Roman"/>
                <a:ea typeface="Times New Roman"/>
                <a:cs typeface="Times New Roman"/>
                <a:sym typeface="Times New Roman"/>
              </a:rPr>
              <a:t>                            </a:t>
            </a:r>
            <a:r>
              <a:rPr b="1" lang="en-GB" sz="8600">
                <a:solidFill>
                  <a:schemeClr val="dk1"/>
                </a:solidFill>
                <a:latin typeface="Times New Roman"/>
                <a:ea typeface="Times New Roman"/>
                <a:cs typeface="Times New Roman"/>
                <a:sym typeface="Times New Roman"/>
              </a:rPr>
              <a:t>TESTING METHODS</a:t>
            </a:r>
            <a:endParaRPr b="0" i="0" sz="86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144000"/>
              <a:buNone/>
            </a:pPr>
            <a:r>
              <a:t/>
            </a:r>
            <a:endParaRPr b="0" i="0" sz="39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349250" lvl="0" marL="457200" rtl="0" algn="l">
              <a:lnSpc>
                <a:spcPct val="130000"/>
              </a:lnSpc>
              <a:spcBef>
                <a:spcPts val="0"/>
              </a:spcBef>
              <a:spcAft>
                <a:spcPts val="0"/>
              </a:spcAft>
              <a:buClr>
                <a:schemeClr val="dk1"/>
              </a:buClr>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Unit Testing (Individual Components): Test RFID detection, data writing/reading,         display messages, and price calculations.</a:t>
            </a:r>
            <a:endParaRPr sz="7600">
              <a:solidFill>
                <a:schemeClr val="dk1"/>
              </a:solidFill>
              <a:highlight>
                <a:srgbClr val="FFFFFF"/>
              </a:highlight>
              <a:latin typeface="Times New Roman"/>
              <a:ea typeface="Times New Roman"/>
              <a:cs typeface="Times New Roman"/>
              <a:sym typeface="Times New Roman"/>
            </a:endParaRPr>
          </a:p>
          <a:p>
            <a:pPr indent="0" lvl="0" marL="45720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349250" lvl="0" marL="457200" rtl="0" algn="l">
              <a:lnSpc>
                <a:spcPct val="130000"/>
              </a:lnSpc>
              <a:spcBef>
                <a:spcPts val="0"/>
              </a:spcBef>
              <a:spcAft>
                <a:spcPts val="0"/>
              </a:spcAft>
              <a:buClr>
                <a:schemeClr val="dk1"/>
              </a:buClr>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 Integration Testing (Component Interaction): Verify RFID and Arduino communication, OLED display updates, and duplicate scan handling.</a:t>
            </a:r>
            <a:endParaRPr sz="7600">
              <a:solidFill>
                <a:schemeClr val="dk1"/>
              </a:solidFill>
              <a:highlight>
                <a:srgbClr val="FFFFFF"/>
              </a:highlight>
              <a:latin typeface="Times New Roman"/>
              <a:ea typeface="Times New Roman"/>
              <a:cs typeface="Times New Roman"/>
              <a:sym typeface="Times New Roman"/>
            </a:endParaRPr>
          </a:p>
          <a:p>
            <a:pPr indent="0" lvl="0" marL="45720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349250" lvl="0" marL="457200" rtl="0" algn="l">
              <a:lnSpc>
                <a:spcPct val="130000"/>
              </a:lnSpc>
              <a:spcBef>
                <a:spcPts val="0"/>
              </a:spcBef>
              <a:spcAft>
                <a:spcPts val="0"/>
              </a:spcAft>
              <a:buClr>
                <a:schemeClr val="dk1"/>
              </a:buClr>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Functional Testing (End-to-End System Check): Ensure correct product addition/removal, cart total updates, and error handling.</a:t>
            </a:r>
            <a:endParaRPr sz="7600">
              <a:solidFill>
                <a:schemeClr val="dk1"/>
              </a:solidFill>
              <a:highlight>
                <a:srgbClr val="FFFFFF"/>
              </a:highlight>
              <a:latin typeface="Times New Roman"/>
              <a:ea typeface="Times New Roman"/>
              <a:cs typeface="Times New Roman"/>
              <a:sym typeface="Times New Roman"/>
            </a:endParaRPr>
          </a:p>
          <a:p>
            <a:pPr indent="0" lvl="0" marL="0" rtl="0" algn="l">
              <a:lnSpc>
                <a:spcPct val="130000"/>
              </a:lnSpc>
              <a:spcBef>
                <a:spcPts val="0"/>
              </a:spcBef>
              <a:spcAft>
                <a:spcPts val="0"/>
              </a:spcAft>
              <a:buClr>
                <a:schemeClr val="dk1"/>
              </a:buClr>
              <a:buSzPts val="275"/>
              <a:buFont typeface="Arial"/>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91000"/>
              <a:buNone/>
            </a:pPr>
            <a:r>
              <a:rPr b="0" i="0" lang="en-GB" sz="6150" u="none" cap="none" strike="noStrike">
                <a:solidFill>
                  <a:schemeClr val="dk1"/>
                </a:solidFill>
                <a:latin typeface="Times New Roman"/>
                <a:ea typeface="Times New Roman"/>
                <a:cs typeface="Times New Roman"/>
                <a:sym typeface="Times New Roman"/>
              </a:rPr>
              <a:t> </a:t>
            </a:r>
            <a:endParaRPr b="0" i="0" sz="6150" u="none" cap="none" strike="noStrike">
              <a:solidFill>
                <a:srgbClr val="000000"/>
              </a:solidFill>
              <a:latin typeface="Arial"/>
              <a:ea typeface="Arial"/>
              <a:cs typeface="Arial"/>
              <a:sym typeface="Arial"/>
            </a:endParaRPr>
          </a:p>
          <a:p>
            <a:pPr indent="0" lvl="0" marL="1371600" marR="0" rtl="0" algn="just">
              <a:lnSpc>
                <a:spcPct val="13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256" name="Google Shape;256;p34"/>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57" name="Google Shape;257;p34"/>
          <p:cNvSpPr/>
          <p:nvPr/>
        </p:nvSpPr>
        <p:spPr>
          <a:xfrm>
            <a:off x="584165" y="4742585"/>
            <a:ext cx="86469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a:t>
            </a: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27</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txBox="1"/>
          <p:nvPr>
            <p:ph idx="1" type="subTitle"/>
          </p:nvPr>
        </p:nvSpPr>
        <p:spPr>
          <a:xfrm>
            <a:off x="154800" y="1196280"/>
            <a:ext cx="8691900" cy="354630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just">
              <a:lnSpc>
                <a:spcPct val="80000"/>
              </a:lnSpc>
              <a:spcBef>
                <a:spcPts val="0"/>
              </a:spcBef>
              <a:spcAft>
                <a:spcPts val="0"/>
              </a:spcAft>
              <a:buSzPct val="255000"/>
              <a:buNone/>
            </a:pPr>
            <a:r>
              <a:rPr b="1" i="0" lang="en-GB" sz="2200" u="none" cap="none" strike="noStrike">
                <a:solidFill>
                  <a:schemeClr val="dk1"/>
                </a:solidFill>
                <a:latin typeface="Times New Roman"/>
                <a:ea typeface="Times New Roman"/>
                <a:cs typeface="Times New Roman"/>
                <a:sym typeface="Times New Roman"/>
              </a:rPr>
              <a:t>                                              </a:t>
            </a:r>
            <a:r>
              <a:rPr b="1" i="0" lang="en-GB" sz="8600" u="none" cap="none" strike="noStrike">
                <a:solidFill>
                  <a:schemeClr val="dk1"/>
                </a:solidFill>
                <a:latin typeface="Times New Roman"/>
                <a:ea typeface="Times New Roman"/>
                <a:cs typeface="Times New Roman"/>
                <a:sym typeface="Times New Roman"/>
              </a:rPr>
              <a:t>                            </a:t>
            </a:r>
            <a:r>
              <a:rPr b="1" lang="en-GB" sz="8600">
                <a:solidFill>
                  <a:schemeClr val="dk1"/>
                </a:solidFill>
                <a:latin typeface="Times New Roman"/>
                <a:ea typeface="Times New Roman"/>
                <a:cs typeface="Times New Roman"/>
                <a:sym typeface="Times New Roman"/>
              </a:rPr>
              <a:t>TESTING METHODS</a:t>
            </a:r>
            <a:endParaRPr b="0" i="0" sz="86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144000"/>
              <a:buNone/>
            </a:pPr>
            <a:r>
              <a:t/>
            </a:r>
            <a:endParaRPr b="0" i="0" sz="3900" u="none" cap="none" strike="noStrike">
              <a:solidFill>
                <a:srgbClr val="000000"/>
              </a:solidFill>
              <a:latin typeface="Arial"/>
              <a:ea typeface="Arial"/>
              <a:cs typeface="Arial"/>
              <a:sym typeface="Arial"/>
            </a:endParaRPr>
          </a:p>
          <a:p>
            <a:pPr indent="0" lvl="0" marL="0" marR="0" rtl="0" algn="just">
              <a:lnSpc>
                <a:spcPct val="8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349250" lvl="0" marL="457200" rtl="0" algn="l">
              <a:lnSpc>
                <a:spcPct val="130000"/>
              </a:lnSpc>
              <a:spcBef>
                <a:spcPts val="0"/>
              </a:spcBef>
              <a:spcAft>
                <a:spcPts val="0"/>
              </a:spcAft>
              <a:buClr>
                <a:schemeClr val="dk1"/>
              </a:buClr>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Stress Testing (Performance Under Load): Test multiple tag scans, power failure recovery, and system response time.</a:t>
            </a:r>
            <a:endParaRPr sz="7600">
              <a:solidFill>
                <a:schemeClr val="dk1"/>
              </a:solidFill>
              <a:highlight>
                <a:srgbClr val="FFFFFF"/>
              </a:highlight>
              <a:latin typeface="Times New Roman"/>
              <a:ea typeface="Times New Roman"/>
              <a:cs typeface="Times New Roman"/>
              <a:sym typeface="Times New Roman"/>
            </a:endParaRPr>
          </a:p>
          <a:p>
            <a:pPr indent="0" lvl="0" marL="91440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349250" lvl="0" marL="457200" rtl="0" algn="l">
              <a:lnSpc>
                <a:spcPct val="130000"/>
              </a:lnSpc>
              <a:spcBef>
                <a:spcPts val="0"/>
              </a:spcBef>
              <a:spcAft>
                <a:spcPts val="0"/>
              </a:spcAft>
              <a:buClr>
                <a:schemeClr val="dk1"/>
              </a:buClr>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User Experience Testing (Ease of Use): Check read distance, angles, and overall user-friendliness.</a:t>
            </a:r>
            <a:endParaRPr sz="7600">
              <a:solidFill>
                <a:schemeClr val="dk1"/>
              </a:solidFill>
              <a:highlight>
                <a:srgbClr val="FFFFFF"/>
              </a:highlight>
              <a:latin typeface="Times New Roman"/>
              <a:ea typeface="Times New Roman"/>
              <a:cs typeface="Times New Roman"/>
              <a:sym typeface="Times New Roman"/>
            </a:endParaRPr>
          </a:p>
          <a:p>
            <a:pPr indent="0" lvl="0" marL="91440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349250" lvl="0" marL="457200" rtl="0" algn="l">
              <a:lnSpc>
                <a:spcPct val="130000"/>
              </a:lnSpc>
              <a:spcBef>
                <a:spcPts val="0"/>
              </a:spcBef>
              <a:spcAft>
                <a:spcPts val="0"/>
              </a:spcAft>
              <a:buClr>
                <a:schemeClr val="dk1"/>
              </a:buClr>
              <a:buSzPct val="100000"/>
              <a:buFont typeface="Times New Roman"/>
              <a:buChar char="●"/>
            </a:pPr>
            <a:r>
              <a:rPr lang="en-GB" sz="7600">
                <a:solidFill>
                  <a:schemeClr val="dk1"/>
                </a:solidFill>
                <a:highlight>
                  <a:srgbClr val="FFFFFF"/>
                </a:highlight>
                <a:latin typeface="Times New Roman"/>
                <a:ea typeface="Times New Roman"/>
                <a:cs typeface="Times New Roman"/>
                <a:sym typeface="Times New Roman"/>
              </a:rPr>
              <a:t>Security Testing (Prevent Unauthorized Access): Test with unauthorized tags and detect data tampering attempts.</a:t>
            </a:r>
            <a:endParaRPr sz="7600">
              <a:solidFill>
                <a:schemeClr val="dk1"/>
              </a:solidFill>
              <a:highlight>
                <a:srgbClr val="FFFFFF"/>
              </a:highlight>
              <a:latin typeface="Times New Roman"/>
              <a:ea typeface="Times New Roman"/>
              <a:cs typeface="Times New Roman"/>
              <a:sym typeface="Times New Roman"/>
            </a:endParaRPr>
          </a:p>
          <a:p>
            <a:pPr indent="0" lvl="0" marL="457200" rtl="0" algn="l">
              <a:lnSpc>
                <a:spcPct val="130000"/>
              </a:lnSpc>
              <a:spcBef>
                <a:spcPts val="0"/>
              </a:spcBef>
              <a:spcAft>
                <a:spcPts val="0"/>
              </a:spcAft>
              <a:buClr>
                <a:schemeClr val="dk1"/>
              </a:buClr>
              <a:buSzPts val="275"/>
              <a:buFont typeface="Arial"/>
              <a:buNone/>
            </a:pPr>
            <a:r>
              <a:t/>
            </a:r>
            <a:endParaRPr sz="7600">
              <a:solidFill>
                <a:schemeClr val="dk1"/>
              </a:solidFill>
              <a:highlight>
                <a:srgbClr val="FFFFFF"/>
              </a:highlight>
              <a:latin typeface="Times New Roman"/>
              <a:ea typeface="Times New Roman"/>
              <a:cs typeface="Times New Roman"/>
              <a:sym typeface="Times New Roman"/>
            </a:endParaRPr>
          </a:p>
          <a:p>
            <a:pPr indent="0" lvl="0" marL="45720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l">
              <a:lnSpc>
                <a:spcPct val="130000"/>
              </a:lnSpc>
              <a:spcBef>
                <a:spcPts val="0"/>
              </a:spcBef>
              <a:spcAft>
                <a:spcPts val="0"/>
              </a:spcAft>
              <a:buSzPct val="73684"/>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74000"/>
              <a:buNone/>
            </a:pPr>
            <a:r>
              <a:t/>
            </a:r>
            <a:endParaRPr sz="7600">
              <a:solidFill>
                <a:schemeClr val="dk1"/>
              </a:solidFill>
              <a:highlight>
                <a:srgbClr val="FFFFFF"/>
              </a:highlight>
              <a:latin typeface="Times New Roman"/>
              <a:ea typeface="Times New Roman"/>
              <a:cs typeface="Times New Roman"/>
              <a:sym typeface="Times New Roman"/>
            </a:endParaRPr>
          </a:p>
          <a:p>
            <a:pPr indent="0" lvl="0" marL="0" marR="0" rtl="0" algn="just">
              <a:lnSpc>
                <a:spcPct val="130000"/>
              </a:lnSpc>
              <a:spcBef>
                <a:spcPts val="0"/>
              </a:spcBef>
              <a:spcAft>
                <a:spcPts val="0"/>
              </a:spcAft>
              <a:buSzPct val="91000"/>
              <a:buNone/>
            </a:pPr>
            <a:r>
              <a:rPr b="0" i="0" lang="en-GB" sz="6150" u="none" cap="none" strike="noStrike">
                <a:solidFill>
                  <a:schemeClr val="dk1"/>
                </a:solidFill>
                <a:latin typeface="Times New Roman"/>
                <a:ea typeface="Times New Roman"/>
                <a:cs typeface="Times New Roman"/>
                <a:sym typeface="Times New Roman"/>
              </a:rPr>
              <a:t> </a:t>
            </a:r>
            <a:endParaRPr b="0" i="0" sz="6150" u="none" cap="none" strike="noStrike">
              <a:solidFill>
                <a:srgbClr val="000000"/>
              </a:solidFill>
              <a:latin typeface="Arial"/>
              <a:ea typeface="Arial"/>
              <a:cs typeface="Arial"/>
              <a:sym typeface="Arial"/>
            </a:endParaRPr>
          </a:p>
          <a:p>
            <a:pPr indent="0" lvl="0" marL="1371600" marR="0" rtl="0" algn="just">
              <a:lnSpc>
                <a:spcPct val="130000"/>
              </a:lnSpc>
              <a:spcBef>
                <a:spcPts val="0"/>
              </a:spcBef>
              <a:spcAft>
                <a:spcPts val="0"/>
              </a:spcAft>
              <a:buSzPct val="91000"/>
              <a:buNone/>
            </a:pPr>
            <a:r>
              <a:t/>
            </a:r>
            <a:endParaRPr b="0" i="0" sz="615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914400" marR="0" rtl="0" algn="l">
              <a:lnSpc>
                <a:spcPct val="15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SzPct val="257000"/>
              <a:buNone/>
            </a:pPr>
            <a:r>
              <a:t/>
            </a:r>
            <a:endParaRPr b="0" i="0" sz="2180" u="none" cap="none" strike="noStrike">
              <a:solidFill>
                <a:srgbClr val="000000"/>
              </a:solidFill>
              <a:latin typeface="Arial"/>
              <a:ea typeface="Arial"/>
              <a:cs typeface="Arial"/>
              <a:sym typeface="Arial"/>
            </a:endParaRPr>
          </a:p>
        </p:txBody>
      </p:sp>
      <p:pic>
        <p:nvPicPr>
          <p:cNvPr id="263" name="Google Shape;263;p35"/>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64" name="Google Shape;264;p35"/>
          <p:cNvSpPr/>
          <p:nvPr/>
        </p:nvSpPr>
        <p:spPr>
          <a:xfrm>
            <a:off x="626040" y="4678560"/>
            <a:ext cx="86469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a:t>
            </a: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28</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idx="1" type="subTitle"/>
          </p:nvPr>
        </p:nvSpPr>
        <p:spPr>
          <a:xfrm>
            <a:off x="358560" y="1132200"/>
            <a:ext cx="8520000" cy="3736200"/>
          </a:xfrm>
          <a:prstGeom prst="rect">
            <a:avLst/>
          </a:prstGeom>
          <a:noFill/>
          <a:ln>
            <a:noFill/>
          </a:ln>
        </p:spPr>
        <p:txBody>
          <a:bodyPr anchorCtr="0" anchor="ctr" bIns="91425" lIns="91425" spcFirstLastPara="1" rIns="91425" wrap="square" tIns="91425">
            <a:normAutofit fontScale="92500" lnSpcReduction="20000"/>
          </a:bodyPr>
          <a:lstStyle/>
          <a:p>
            <a:pPr indent="0" lvl="0" marL="0" marR="0" rtl="0" algn="ctr">
              <a:lnSpc>
                <a:spcPct val="80000"/>
              </a:lnSpc>
              <a:spcBef>
                <a:spcPts val="0"/>
              </a:spcBef>
              <a:spcAft>
                <a:spcPts val="0"/>
              </a:spcAft>
              <a:buSzPct val="64000"/>
              <a:buNone/>
            </a:pPr>
            <a:r>
              <a:rPr b="1" i="0" lang="en-GB" sz="2180" u="none" cap="none" strike="noStrike">
                <a:solidFill>
                  <a:schemeClr val="dk1"/>
                </a:solidFill>
                <a:latin typeface="Times New Roman"/>
                <a:ea typeface="Times New Roman"/>
                <a:cs typeface="Times New Roman"/>
                <a:sym typeface="Times New Roman"/>
              </a:rPr>
              <a:t>CONCLUSION</a:t>
            </a:r>
            <a:endParaRPr i="0" sz="2180" u="none" cap="none" strike="noStrike">
              <a:solidFill>
                <a:srgbClr val="000000"/>
              </a:solidFill>
              <a:latin typeface="Times New Roman"/>
              <a:ea typeface="Times New Roman"/>
              <a:cs typeface="Times New Roman"/>
              <a:sym typeface="Times New Roman"/>
            </a:endParaRPr>
          </a:p>
          <a:p>
            <a:pPr indent="-346075" lvl="0" marL="457200" rtl="0" algn="just">
              <a:lnSpc>
                <a:spcPct val="115000"/>
              </a:lnSpc>
              <a:spcBef>
                <a:spcPts val="1200"/>
              </a:spcBef>
              <a:spcAft>
                <a:spcPts val="0"/>
              </a:spcAft>
              <a:buClr>
                <a:schemeClr val="dk1"/>
              </a:buClr>
              <a:buSzPct val="100000"/>
              <a:buFont typeface="Times New Roman"/>
              <a:buChar char="●"/>
            </a:pPr>
            <a:r>
              <a:rPr lang="en-GB" sz="2000">
                <a:solidFill>
                  <a:schemeClr val="dk1"/>
                </a:solidFill>
                <a:latin typeface="Times New Roman"/>
                <a:ea typeface="Times New Roman"/>
                <a:cs typeface="Times New Roman"/>
                <a:sym typeface="Times New Roman"/>
              </a:rPr>
              <a:t>We planned our work before implementation.  </a:t>
            </a:r>
            <a:endParaRPr sz="2000">
              <a:solidFill>
                <a:schemeClr val="dk1"/>
              </a:solidFill>
              <a:latin typeface="Times New Roman"/>
              <a:ea typeface="Times New Roman"/>
              <a:cs typeface="Times New Roman"/>
              <a:sym typeface="Times New Roman"/>
            </a:endParaRPr>
          </a:p>
          <a:p>
            <a:pPr indent="-346075" lvl="0" marL="457200" rtl="0" algn="just">
              <a:lnSpc>
                <a:spcPct val="115000"/>
              </a:lnSpc>
              <a:spcBef>
                <a:spcPts val="0"/>
              </a:spcBef>
              <a:spcAft>
                <a:spcPts val="0"/>
              </a:spcAft>
              <a:buClr>
                <a:schemeClr val="dk1"/>
              </a:buClr>
              <a:buSzPct val="100000"/>
              <a:buFont typeface="Times New Roman"/>
              <a:buChar char="●"/>
            </a:pPr>
            <a:r>
              <a:rPr lang="en-GB" sz="2000">
                <a:solidFill>
                  <a:schemeClr val="dk1"/>
                </a:solidFill>
                <a:latin typeface="Times New Roman"/>
                <a:ea typeface="Times New Roman"/>
                <a:cs typeface="Times New Roman"/>
                <a:sym typeface="Times New Roman"/>
              </a:rPr>
              <a:t>The problem statement was defined, and the methodology was finalized.  </a:t>
            </a:r>
            <a:endParaRPr sz="2000">
              <a:solidFill>
                <a:schemeClr val="dk1"/>
              </a:solidFill>
              <a:latin typeface="Times New Roman"/>
              <a:ea typeface="Times New Roman"/>
              <a:cs typeface="Times New Roman"/>
              <a:sym typeface="Times New Roman"/>
            </a:endParaRPr>
          </a:p>
          <a:p>
            <a:pPr indent="-346075" lvl="0" marL="457200" rtl="0" algn="just">
              <a:lnSpc>
                <a:spcPct val="115000"/>
              </a:lnSpc>
              <a:spcBef>
                <a:spcPts val="0"/>
              </a:spcBef>
              <a:spcAft>
                <a:spcPts val="0"/>
              </a:spcAft>
              <a:buClr>
                <a:schemeClr val="dk1"/>
              </a:buClr>
              <a:buSzPct val="100000"/>
              <a:buFont typeface="Times New Roman"/>
              <a:buChar char="●"/>
            </a:pPr>
            <a:r>
              <a:rPr lang="en-GB" sz="2000">
                <a:solidFill>
                  <a:schemeClr val="dk1"/>
                </a:solidFill>
                <a:latin typeface="Times New Roman"/>
                <a:ea typeface="Times New Roman"/>
                <a:cs typeface="Times New Roman"/>
                <a:sym typeface="Times New Roman"/>
              </a:rPr>
              <a:t>All necessary components were procured.  </a:t>
            </a:r>
            <a:endParaRPr sz="2000">
              <a:solidFill>
                <a:schemeClr val="dk1"/>
              </a:solidFill>
              <a:latin typeface="Times New Roman"/>
              <a:ea typeface="Times New Roman"/>
              <a:cs typeface="Times New Roman"/>
              <a:sym typeface="Times New Roman"/>
            </a:endParaRPr>
          </a:p>
          <a:p>
            <a:pPr indent="-346075" lvl="0" marL="457200" rtl="0" algn="just">
              <a:lnSpc>
                <a:spcPct val="115000"/>
              </a:lnSpc>
              <a:spcBef>
                <a:spcPts val="0"/>
              </a:spcBef>
              <a:spcAft>
                <a:spcPts val="0"/>
              </a:spcAft>
              <a:buClr>
                <a:schemeClr val="dk1"/>
              </a:buClr>
              <a:buSzPct val="100000"/>
              <a:buFont typeface="Times New Roman"/>
              <a:buChar char="●"/>
            </a:pPr>
            <a:r>
              <a:rPr lang="en-GB" sz="2000">
                <a:solidFill>
                  <a:schemeClr val="dk1"/>
                </a:solidFill>
                <a:latin typeface="Times New Roman"/>
                <a:ea typeface="Times New Roman"/>
                <a:cs typeface="Times New Roman"/>
                <a:sym typeface="Times New Roman"/>
              </a:rPr>
              <a:t>The Smart Shopping Cart using RFID technology was successfully implemented.  </a:t>
            </a:r>
            <a:endParaRPr sz="2000">
              <a:solidFill>
                <a:schemeClr val="dk1"/>
              </a:solidFill>
              <a:latin typeface="Times New Roman"/>
              <a:ea typeface="Times New Roman"/>
              <a:cs typeface="Times New Roman"/>
              <a:sym typeface="Times New Roman"/>
            </a:endParaRPr>
          </a:p>
          <a:p>
            <a:pPr indent="-346075" lvl="0" marL="457200" rtl="0" algn="just">
              <a:lnSpc>
                <a:spcPct val="115000"/>
              </a:lnSpc>
              <a:spcBef>
                <a:spcPts val="0"/>
              </a:spcBef>
              <a:spcAft>
                <a:spcPts val="0"/>
              </a:spcAft>
              <a:buClr>
                <a:schemeClr val="dk1"/>
              </a:buClr>
              <a:buSzPct val="100000"/>
              <a:buFont typeface="Times New Roman"/>
              <a:buChar char="●"/>
            </a:pPr>
            <a:r>
              <a:rPr lang="en-GB" sz="2000">
                <a:solidFill>
                  <a:schemeClr val="dk1"/>
                </a:solidFill>
                <a:latin typeface="Times New Roman"/>
                <a:ea typeface="Times New Roman"/>
                <a:cs typeface="Times New Roman"/>
                <a:sym typeface="Times New Roman"/>
              </a:rPr>
              <a:t>It improves shopping convenience and retail efficiency.  </a:t>
            </a:r>
            <a:endParaRPr sz="2000">
              <a:solidFill>
                <a:schemeClr val="dk1"/>
              </a:solidFill>
              <a:latin typeface="Times New Roman"/>
              <a:ea typeface="Times New Roman"/>
              <a:cs typeface="Times New Roman"/>
              <a:sym typeface="Times New Roman"/>
            </a:endParaRPr>
          </a:p>
          <a:p>
            <a:pPr indent="-346075" lvl="0" marL="457200" rtl="0" algn="just">
              <a:lnSpc>
                <a:spcPct val="115000"/>
              </a:lnSpc>
              <a:spcBef>
                <a:spcPts val="0"/>
              </a:spcBef>
              <a:spcAft>
                <a:spcPts val="0"/>
              </a:spcAft>
              <a:buClr>
                <a:schemeClr val="dk1"/>
              </a:buClr>
              <a:buSzPct val="100000"/>
              <a:buFont typeface="Times New Roman"/>
              <a:buChar char="●"/>
            </a:pPr>
            <a:r>
              <a:rPr lang="en-GB" sz="2000">
                <a:solidFill>
                  <a:schemeClr val="dk1"/>
                </a:solidFill>
                <a:latin typeface="Times New Roman"/>
                <a:ea typeface="Times New Roman"/>
                <a:cs typeface="Times New Roman"/>
                <a:sym typeface="Times New Roman"/>
              </a:rPr>
              <a:t>Despite some challenges, it offers benefits like faster checkout and better inventory management. </a:t>
            </a:r>
            <a:endParaRPr sz="2000">
              <a:solidFill>
                <a:schemeClr val="dk1"/>
              </a:solidFill>
              <a:latin typeface="Times New Roman"/>
              <a:ea typeface="Times New Roman"/>
              <a:cs typeface="Times New Roman"/>
              <a:sym typeface="Times New Roman"/>
            </a:endParaRPr>
          </a:p>
          <a:p>
            <a:pPr indent="0" lvl="0" marL="0" marR="0" rtl="0" algn="just">
              <a:lnSpc>
                <a:spcPct val="115000"/>
              </a:lnSpc>
              <a:spcBef>
                <a:spcPts val="1190"/>
              </a:spcBef>
              <a:spcAft>
                <a:spcPts val="0"/>
              </a:spcAft>
              <a:buSzPct val="70000"/>
              <a:buNone/>
            </a:pPr>
            <a:r>
              <a:t/>
            </a:r>
            <a:endParaRPr sz="2000">
              <a:solidFill>
                <a:schemeClr val="dk1"/>
              </a:solidFill>
              <a:latin typeface="Times New Roman"/>
              <a:ea typeface="Times New Roman"/>
              <a:cs typeface="Times New Roman"/>
              <a:sym typeface="Times New Roman"/>
            </a:endParaRPr>
          </a:p>
          <a:p>
            <a:pPr indent="0" lvl="0" marL="0" marR="0" rtl="0" algn="ctr">
              <a:lnSpc>
                <a:spcPct val="80000"/>
              </a:lnSpc>
              <a:spcBef>
                <a:spcPts val="2190"/>
              </a:spcBef>
              <a:spcAft>
                <a:spcPts val="0"/>
              </a:spcAft>
              <a:buSzPct val="64000"/>
              <a:buNone/>
            </a:pPr>
            <a:r>
              <a:t/>
            </a:r>
            <a:endParaRPr i="0" sz="2180" u="none" cap="none" strike="noStrike">
              <a:solidFill>
                <a:srgbClr val="000000"/>
              </a:solidFill>
              <a:latin typeface="Times New Roman"/>
              <a:ea typeface="Times New Roman"/>
              <a:cs typeface="Times New Roman"/>
              <a:sym typeface="Times New Roman"/>
            </a:endParaRPr>
          </a:p>
          <a:p>
            <a:pPr indent="0" lvl="0" marL="0" marR="0" rtl="0" algn="ctr">
              <a:lnSpc>
                <a:spcPct val="80000"/>
              </a:lnSpc>
              <a:spcBef>
                <a:spcPts val="0"/>
              </a:spcBef>
              <a:spcAft>
                <a:spcPts val="0"/>
              </a:spcAft>
              <a:buSzPct val="64000"/>
              <a:buNone/>
            </a:pPr>
            <a:r>
              <a:t/>
            </a:r>
            <a:endParaRPr i="0" sz="2180" u="none" cap="none" strike="noStrike">
              <a:solidFill>
                <a:srgbClr val="000000"/>
              </a:solidFill>
              <a:latin typeface="Times New Roman"/>
              <a:ea typeface="Times New Roman"/>
              <a:cs typeface="Times New Roman"/>
              <a:sym typeface="Times New Roman"/>
            </a:endParaRPr>
          </a:p>
        </p:txBody>
      </p:sp>
      <p:pic>
        <p:nvPicPr>
          <p:cNvPr id="270" name="Google Shape;270;p36"/>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71" name="Google Shape;271;p36"/>
          <p:cNvSpPr/>
          <p:nvPr/>
        </p:nvSpPr>
        <p:spPr>
          <a:xfrm>
            <a:off x="590040" y="4807800"/>
            <a:ext cx="816660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29</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txBox="1"/>
          <p:nvPr>
            <p:ph idx="1" type="subTitle"/>
          </p:nvPr>
        </p:nvSpPr>
        <p:spPr>
          <a:xfrm>
            <a:off x="357480" y="1132200"/>
            <a:ext cx="8520120" cy="373608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ctr">
              <a:lnSpc>
                <a:spcPct val="80000"/>
              </a:lnSpc>
              <a:spcBef>
                <a:spcPts val="0"/>
              </a:spcBef>
              <a:spcAft>
                <a:spcPts val="0"/>
              </a:spcAft>
              <a:buSzPct val="50000"/>
              <a:buNone/>
            </a:pPr>
            <a:r>
              <a:rPr b="1" i="0" lang="en-GB" sz="8580" u="none" cap="none" strike="noStrike">
                <a:solidFill>
                  <a:schemeClr val="dk1"/>
                </a:solidFill>
                <a:latin typeface="Times New Roman"/>
                <a:ea typeface="Times New Roman"/>
                <a:cs typeface="Times New Roman"/>
                <a:sym typeface="Times New Roman"/>
              </a:rPr>
              <a:t>REFERENCES</a:t>
            </a:r>
            <a:endParaRPr b="0" i="0" sz="858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SzPct val="45999"/>
              <a:buNone/>
            </a:pPr>
            <a:r>
              <a:t/>
            </a:r>
            <a:endParaRPr b="0" i="0" sz="938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ct val="62000"/>
              <a:buNone/>
            </a:pPr>
            <a:r>
              <a:rPr i="0" lang="en-GB" sz="7000" u="none" cap="none" strike="noStrike">
                <a:solidFill>
                  <a:schemeClr val="dk1"/>
                </a:solidFill>
                <a:latin typeface="Times New Roman"/>
                <a:ea typeface="Times New Roman"/>
                <a:cs typeface="Times New Roman"/>
                <a:sym typeface="Times New Roman"/>
              </a:rPr>
              <a:t>[1]  </a:t>
            </a:r>
            <a:r>
              <a:rPr lang="en-GB" sz="7000">
                <a:solidFill>
                  <a:schemeClr val="dk1"/>
                </a:solidFill>
                <a:latin typeface="Times New Roman"/>
                <a:ea typeface="Times New Roman"/>
                <a:cs typeface="Times New Roman"/>
                <a:sym typeface="Times New Roman"/>
              </a:rPr>
              <a:t>Susanna M Santhosh, Cemone P Babu, Jills Joseph , Preethu Benny,</a:t>
            </a:r>
            <a:endParaRPr sz="70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2000"/>
              <a:buFont typeface="Arial"/>
              <a:buNone/>
            </a:pPr>
            <a:r>
              <a:rPr lang="en-GB" sz="7000">
                <a:solidFill>
                  <a:schemeClr val="dk1"/>
                </a:solidFill>
                <a:latin typeface="Times New Roman"/>
                <a:ea typeface="Times New Roman"/>
                <a:cs typeface="Times New Roman"/>
                <a:sym typeface="Times New Roman"/>
              </a:rPr>
              <a:t>published in the International Journal of Engineering Applied Sciences and Technology (IJEAST), Volume 5, on June 2020. </a:t>
            </a:r>
            <a:endParaRPr sz="70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62000"/>
              <a:buNone/>
            </a:pPr>
            <a:r>
              <a:t/>
            </a:r>
            <a:endParaRPr i="0" sz="7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SzPct val="62000"/>
              <a:buNone/>
            </a:pPr>
            <a:r>
              <a:rPr i="0" lang="en-GB" sz="7000" u="none" cap="none" strike="noStrike">
                <a:solidFill>
                  <a:schemeClr val="dk1"/>
                </a:solidFill>
                <a:latin typeface="Times New Roman"/>
                <a:ea typeface="Times New Roman"/>
                <a:cs typeface="Times New Roman"/>
                <a:sym typeface="Times New Roman"/>
              </a:rPr>
              <a:t>[2]  </a:t>
            </a:r>
            <a:r>
              <a:rPr lang="en-GB" sz="7000">
                <a:solidFill>
                  <a:schemeClr val="dk1"/>
                </a:solidFill>
                <a:latin typeface="Times New Roman"/>
                <a:ea typeface="Times New Roman"/>
                <a:cs typeface="Times New Roman"/>
                <a:sym typeface="Times New Roman"/>
              </a:rPr>
              <a:t>Martinusa , Metta Saridewi Wahaba , Yudia, Hanry Ham, published in the journal Procedia Computer Science, volume 179 on January 1, 2021.</a:t>
            </a:r>
            <a:endParaRPr i="0" sz="7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SzPct val="62000"/>
              <a:buNone/>
            </a:pPr>
            <a:r>
              <a:t/>
            </a:r>
            <a:endParaRPr i="0" sz="70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SzPct val="62000"/>
              <a:buNone/>
            </a:pPr>
            <a:r>
              <a:t/>
            </a:r>
            <a:endParaRPr i="0" sz="7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SzPct val="62000"/>
              <a:buNone/>
            </a:pPr>
            <a:r>
              <a:rPr i="0" lang="en-GB" sz="7000" u="none" cap="none" strike="noStrike">
                <a:solidFill>
                  <a:schemeClr val="dk1"/>
                </a:solidFill>
                <a:latin typeface="Times New Roman"/>
                <a:ea typeface="Times New Roman"/>
                <a:cs typeface="Times New Roman"/>
                <a:sym typeface="Times New Roman"/>
              </a:rPr>
              <a:t>[3] Seshagopal , Harish D , Ashwinth Fatin , Dr. Antonidoss ,</a:t>
            </a:r>
            <a:endParaRPr i="0" sz="7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SzPct val="62000"/>
              <a:buNone/>
            </a:pPr>
            <a:r>
              <a:rPr i="0" lang="en-GB" sz="7000" u="none" cap="none" strike="noStrike">
                <a:solidFill>
                  <a:schemeClr val="dk1"/>
                </a:solidFill>
                <a:latin typeface="Times New Roman"/>
                <a:ea typeface="Times New Roman"/>
                <a:cs typeface="Times New Roman"/>
                <a:sym typeface="Times New Roman"/>
              </a:rPr>
              <a:t>published in the International Journal of Engineering Research &amp; Technology (IJERT), Volume 10, Issue 04, in April 2021.</a:t>
            </a:r>
            <a:endParaRPr i="0" sz="70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SzPct val="72000"/>
              <a:buNone/>
            </a:pPr>
            <a:r>
              <a:t/>
            </a:r>
            <a:endParaRPr b="0" i="0" sz="602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SzPct val="72000"/>
              <a:buNone/>
            </a:pPr>
            <a:r>
              <a:t/>
            </a:r>
            <a:endParaRPr b="0" i="0" sz="602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SzPct val="72000"/>
              <a:buNone/>
            </a:pPr>
            <a:r>
              <a:t/>
            </a:r>
            <a:endParaRPr b="0" i="0" sz="602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SzPct val="72000"/>
              <a:buNone/>
            </a:pPr>
            <a:r>
              <a:t/>
            </a:r>
            <a:endParaRPr b="0" i="0" sz="602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SzPct val="72000"/>
              <a:buNone/>
            </a:pPr>
            <a:r>
              <a:t/>
            </a:r>
            <a:endParaRPr b="0" i="0" sz="602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SzPct val="308000"/>
              <a:buNone/>
            </a:pPr>
            <a:r>
              <a:t/>
            </a:r>
            <a:endParaRPr b="0" i="0" sz="1400" u="none" cap="none" strike="noStrike">
              <a:solidFill>
                <a:srgbClr val="000000"/>
              </a:solidFill>
              <a:latin typeface="Arial"/>
              <a:ea typeface="Arial"/>
              <a:cs typeface="Arial"/>
              <a:sym typeface="Arial"/>
            </a:endParaRPr>
          </a:p>
        </p:txBody>
      </p:sp>
      <p:pic>
        <p:nvPicPr>
          <p:cNvPr id="277" name="Google Shape;277;p37"/>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78" name="Google Shape;278;p37"/>
          <p:cNvSpPr/>
          <p:nvPr/>
        </p:nvSpPr>
        <p:spPr>
          <a:xfrm>
            <a:off x="543960" y="4807800"/>
            <a:ext cx="827712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30</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idx="1" type="subTitle"/>
          </p:nvPr>
        </p:nvSpPr>
        <p:spPr>
          <a:xfrm>
            <a:off x="358560" y="1132200"/>
            <a:ext cx="8520120" cy="3736080"/>
          </a:xfrm>
          <a:prstGeom prst="rect">
            <a:avLst/>
          </a:prstGeom>
          <a:noFill/>
          <a:ln>
            <a:noFill/>
          </a:ln>
        </p:spPr>
        <p:txBody>
          <a:bodyPr anchorCtr="0" anchor="t" bIns="91425" lIns="91425" spcFirstLastPara="1" rIns="91425" wrap="square" tIns="91425">
            <a:normAutofit/>
          </a:bodyPr>
          <a:lstStyle/>
          <a:p>
            <a:pPr indent="0" lvl="0" marL="0" marR="0" rtl="0" algn="ctr">
              <a:lnSpc>
                <a:spcPct val="80000"/>
              </a:lnSpc>
              <a:spcBef>
                <a:spcPts val="0"/>
              </a:spcBef>
              <a:spcAft>
                <a:spcPts val="0"/>
              </a:spcAft>
              <a:buSzPts val="1400"/>
              <a:buNone/>
            </a:pPr>
            <a:r>
              <a:rPr b="1" i="0" lang="en-GB" sz="2180" u="none" cap="none" strike="noStrike">
                <a:solidFill>
                  <a:schemeClr val="dk1"/>
                </a:solidFill>
                <a:latin typeface="Times New Roman"/>
                <a:ea typeface="Times New Roman"/>
                <a:cs typeface="Times New Roman"/>
                <a:sym typeface="Times New Roman"/>
              </a:rPr>
              <a:t>REFERENCES</a:t>
            </a:r>
            <a:endParaRPr b="0" i="0" sz="218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SzPts val="1400"/>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565"/>
              </a:spcBef>
              <a:spcAft>
                <a:spcPts val="0"/>
              </a:spcAft>
              <a:buSzPts val="1400"/>
              <a:buNone/>
            </a:pPr>
            <a:r>
              <a:rPr i="0" lang="en-GB" sz="1750" u="none" cap="none" strike="noStrike">
                <a:solidFill>
                  <a:schemeClr val="dk1"/>
                </a:solidFill>
                <a:latin typeface="Times New Roman"/>
                <a:ea typeface="Times New Roman"/>
                <a:cs typeface="Times New Roman"/>
                <a:sym typeface="Times New Roman"/>
              </a:rPr>
              <a:t>[4] K Sreenivasa Rao,Ayesha Shaik, N Dineshsairamreddy,  H Anusha, A Guru Rajesh,published in the Journal of Emerging Technologies and Innovative Research (JETIR), Volume 10, Issue 3, in March 2023. </a:t>
            </a:r>
            <a:endParaRPr i="0" sz="1750" u="none" cap="none" strike="noStrike">
              <a:solidFill>
                <a:srgbClr val="000000"/>
              </a:solidFill>
              <a:latin typeface="Times New Roman"/>
              <a:ea typeface="Times New Roman"/>
              <a:cs typeface="Times New Roman"/>
              <a:sym typeface="Times New Roman"/>
            </a:endParaRPr>
          </a:p>
          <a:p>
            <a:pPr indent="0" lvl="0" marL="0" marR="0" rtl="0" algn="just">
              <a:lnSpc>
                <a:spcPct val="80000"/>
              </a:lnSpc>
              <a:spcBef>
                <a:spcPts val="565"/>
              </a:spcBef>
              <a:spcAft>
                <a:spcPts val="0"/>
              </a:spcAft>
              <a:buSzPts val="1400"/>
              <a:buNone/>
            </a:pPr>
            <a:r>
              <a:t/>
            </a:r>
            <a:endParaRPr i="0" sz="175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285"/>
              </a:spcBef>
              <a:spcAft>
                <a:spcPts val="0"/>
              </a:spcAft>
              <a:buSzPts val="1400"/>
              <a:buNone/>
            </a:pPr>
            <a:r>
              <a:rPr i="0" lang="en-GB" sz="1750" u="none" cap="none" strike="noStrike">
                <a:solidFill>
                  <a:schemeClr val="dk1"/>
                </a:solidFill>
                <a:latin typeface="Times New Roman"/>
                <a:ea typeface="Times New Roman"/>
                <a:cs typeface="Times New Roman"/>
                <a:sym typeface="Times New Roman"/>
              </a:rPr>
              <a:t>[5] Prof. Roopa C , Nivas Chandra Reddy,published in the Journal of Emerging Technologies and Innovative Research (JETIR), Volume 11, Issue 3, in March 2024.</a:t>
            </a:r>
            <a:endParaRPr i="0" sz="1750" u="none" cap="none" strike="noStrike">
              <a:solidFill>
                <a:srgbClr val="000000"/>
              </a:solidFill>
              <a:latin typeface="Times New Roman"/>
              <a:ea typeface="Times New Roman"/>
              <a:cs typeface="Times New Roman"/>
              <a:sym typeface="Times New Roman"/>
            </a:endParaRPr>
          </a:p>
          <a:p>
            <a:pPr indent="0" lvl="0" marL="0" marR="0" rtl="0" algn="just">
              <a:lnSpc>
                <a:spcPct val="110000"/>
              </a:lnSpc>
              <a:spcBef>
                <a:spcPts val="285"/>
              </a:spcBef>
              <a:spcAft>
                <a:spcPts val="0"/>
              </a:spcAft>
              <a:buSzPts val="1400"/>
              <a:buNone/>
            </a:pPr>
            <a:r>
              <a:t/>
            </a:r>
            <a:endParaRPr b="0" i="0" sz="1500" u="none" cap="none" strike="noStrike">
              <a:solidFill>
                <a:srgbClr val="000000"/>
              </a:solidFill>
              <a:latin typeface="Arial"/>
              <a:ea typeface="Arial"/>
              <a:cs typeface="Arial"/>
              <a:sym typeface="Arial"/>
            </a:endParaRPr>
          </a:p>
          <a:p>
            <a:pPr indent="0" lvl="0" marL="0" marR="0" rtl="0" algn="just">
              <a:lnSpc>
                <a:spcPct val="110000"/>
              </a:lnSpc>
              <a:spcBef>
                <a:spcPts val="0"/>
              </a:spcBef>
              <a:spcAft>
                <a:spcPts val="0"/>
              </a:spcAft>
              <a:buSzPts val="1400"/>
              <a:buNone/>
            </a:pPr>
            <a:r>
              <a:t/>
            </a:r>
            <a:endParaRPr b="0" i="0" sz="1500" u="none" cap="none" strike="noStrike">
              <a:solidFill>
                <a:srgbClr val="000000"/>
              </a:solidFill>
              <a:latin typeface="Arial"/>
              <a:ea typeface="Arial"/>
              <a:cs typeface="Arial"/>
              <a:sym typeface="Arial"/>
            </a:endParaRPr>
          </a:p>
          <a:p>
            <a:pPr indent="0" lvl="0" marL="0" marR="0" rtl="0" algn="just">
              <a:lnSpc>
                <a:spcPct val="110000"/>
              </a:lnSpc>
              <a:spcBef>
                <a:spcPts val="0"/>
              </a:spcBef>
              <a:spcAft>
                <a:spcPts val="0"/>
              </a:spcAft>
              <a:buSzPts val="1400"/>
              <a:buNone/>
            </a:pPr>
            <a:r>
              <a:t/>
            </a:r>
            <a:endParaRPr b="0" i="0" sz="1380" u="none" cap="none" strike="noStrike">
              <a:solidFill>
                <a:srgbClr val="000000"/>
              </a:solidFill>
              <a:latin typeface="Arial"/>
              <a:ea typeface="Arial"/>
              <a:cs typeface="Arial"/>
              <a:sym typeface="Arial"/>
            </a:endParaRPr>
          </a:p>
        </p:txBody>
      </p:sp>
      <p:pic>
        <p:nvPicPr>
          <p:cNvPr id="284" name="Google Shape;284;p38"/>
          <p:cNvPicPr preferRelativeResize="0"/>
          <p:nvPr/>
        </p:nvPicPr>
        <p:blipFill rotWithShape="1">
          <a:blip r:embed="rId3">
            <a:alphaModFix/>
          </a:blip>
          <a:srcRect b="0" l="0" r="0" t="0"/>
          <a:stretch/>
        </p:blipFill>
        <p:spPr>
          <a:xfrm>
            <a:off x="0" y="0"/>
            <a:ext cx="9143640" cy="1061280"/>
          </a:xfrm>
          <a:prstGeom prst="rect">
            <a:avLst/>
          </a:prstGeom>
          <a:noFill/>
          <a:ln>
            <a:noFill/>
          </a:ln>
        </p:spPr>
      </p:pic>
      <p:sp>
        <p:nvSpPr>
          <p:cNvPr id="285" name="Google Shape;285;p38"/>
          <p:cNvSpPr/>
          <p:nvPr/>
        </p:nvSpPr>
        <p:spPr>
          <a:xfrm>
            <a:off x="700560" y="4807800"/>
            <a:ext cx="8083440" cy="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GB">
                <a:solidFill>
                  <a:schemeClr val="dk1"/>
                </a:solidFill>
              </a:rPr>
              <a:t>Date:02-04-2025</a:t>
            </a:r>
            <a:r>
              <a:rPr b="0" i="0" lang="en-GB" sz="1400" u="none" cap="none" strike="noStrike">
                <a:solidFill>
                  <a:schemeClr val="dk1"/>
                </a:solidFill>
                <a:latin typeface="Arial"/>
                <a:ea typeface="Arial"/>
                <a:cs typeface="Arial"/>
                <a:sym typeface="Arial"/>
              </a:rPr>
              <a:t>                                               IESCE                                            Slide. No: 31</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311760" y="744480"/>
            <a:ext cx="8520120" cy="205236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5200"/>
              <a:buFont typeface="Times New Roman"/>
              <a:buNone/>
            </a:pPr>
            <a:r>
              <a:rPr b="1" lang="en-GB" sz="5200" u="none" strike="noStrike">
                <a:solidFill>
                  <a:schemeClr val="dk1"/>
                </a:solidFill>
                <a:latin typeface="Times New Roman"/>
                <a:ea typeface="Times New Roman"/>
                <a:cs typeface="Times New Roman"/>
                <a:sym typeface="Times New Roman"/>
              </a:rPr>
              <a:t>THANK YOU</a:t>
            </a:r>
            <a:endParaRPr b="0" sz="5200" u="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